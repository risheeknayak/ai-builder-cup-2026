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baa58628284e0f" /><Relationship Type="http://schemas.openxmlformats.org/officeDocument/2006/relationships/extended-properties" Target="/docProps/app.xml" Id="Rddf676fad7ab48dd" /><Relationship Type="http://schemas.openxmlformats.org/officeDocument/2006/relationships/officeDocument" Target="/ppt/presentation.xml" Id="R86be0e745c2b403d" /></Relationships>
</file>

<file path=ppt/presentation.xml><?xml version="1.0" encoding="utf-8"?>
<p:presentation xmlns:p="http://schemas.openxmlformats.org/presentationml/2006/main">
  <p:sldMasterIdLst>
    <p:sldMasterId xmlns:r="http://schemas.openxmlformats.org/officeDocument/2006/relationships" id="2147483648" r:id="Rc7adcb51376a4ee4"/>
  </p:sldMasterIdLst>
  <p:notesMasterIdLst>
    <p:notesMasterId xmlns:r="http://schemas.openxmlformats.org/officeDocument/2006/relationships" r:id="R80236290c7784d0c"/>
  </p:notesMasterIdLst>
  <p:sldIdLst>
    <p:sldId xmlns:r="http://schemas.openxmlformats.org/officeDocument/2006/relationships" id="256" r:id="R4afe3dc951d44285"/>
    <p:sldId xmlns:r="http://schemas.openxmlformats.org/officeDocument/2006/relationships" id="257" r:id="R6f11ebf20f3a4947"/>
    <p:sldId xmlns:r="http://schemas.openxmlformats.org/officeDocument/2006/relationships" id="258" r:id="Rae3c33e7310e48d5"/>
    <p:sldId xmlns:r="http://schemas.openxmlformats.org/officeDocument/2006/relationships" id="259" r:id="Rf980499e4ec942f1"/>
    <p:sldId xmlns:r="http://schemas.openxmlformats.org/officeDocument/2006/relationships" id="260" r:id="R7486218b9de34896"/>
    <p:sldId xmlns:r="http://schemas.openxmlformats.org/officeDocument/2006/relationships" id="261" r:id="R2df32a68c6eb4257"/>
    <p:sldId xmlns:r="http://schemas.openxmlformats.org/officeDocument/2006/relationships" id="262" r:id="R969fee25ea214780"/>
    <p:sldId xmlns:r="http://schemas.openxmlformats.org/officeDocument/2006/relationships" id="263" r:id="R6a4faf01d5884712"/>
    <p:sldId xmlns:r="http://schemas.openxmlformats.org/officeDocument/2006/relationships" id="264" r:id="R51cc676a815a41a5"/>
    <p:sldId xmlns:r="http://schemas.openxmlformats.org/officeDocument/2006/relationships" id="265" r:id="R4c403b564d5f4756"/>
    <p:sldId xmlns:r="http://schemas.openxmlformats.org/officeDocument/2006/relationships" id="266" r:id="R7de807d531b44c58"/>
    <p:sldId xmlns:r="http://schemas.openxmlformats.org/officeDocument/2006/relationships" id="267" r:id="R14aba11018344e2d"/>
    <p:sldId xmlns:r="http://schemas.openxmlformats.org/officeDocument/2006/relationships" id="268" r:id="R5a9f9ddca7d54b9a"/>
    <p:sldId xmlns:r="http://schemas.openxmlformats.org/officeDocument/2006/relationships" id="269" r:id="Raf891b162cd94a5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d82e77b62e45b2" /><Relationship Type="http://schemas.openxmlformats.org/officeDocument/2006/relationships/slideMaster" Target="/ppt/slideMasters/slideMaster1.xml" Id="Rc7adcb51376a4ee4" /><Relationship Type="http://schemas.openxmlformats.org/officeDocument/2006/relationships/notesMaster" Target="/ppt/notesMasters/notesMaster1.xml" Id="R80236290c7784d0c" /><Relationship Type="http://schemas.openxmlformats.org/officeDocument/2006/relationships/presProps" Target="/ppt/presProps.xml" Id="Rc9079b4ebf7f4e14" /><Relationship Type="http://schemas.openxmlformats.org/officeDocument/2006/relationships/tableStyles" Target="/ppt/tableStyles.xml" Id="R26c453d02b1c4cdd" /><Relationship Type="http://schemas.openxmlformats.org/officeDocument/2006/relationships/slide" Target="/ppt/slides/slide1.xml" Id="R4afe3dc951d44285" /><Relationship Type="http://schemas.openxmlformats.org/officeDocument/2006/relationships/slide" Target="/ppt/slides/slide2.xml" Id="R6f11ebf20f3a4947" /><Relationship Type="http://schemas.openxmlformats.org/officeDocument/2006/relationships/slide" Target="/ppt/slides/slide3.xml" Id="Rae3c33e7310e48d5" /><Relationship Type="http://schemas.openxmlformats.org/officeDocument/2006/relationships/slide" Target="/ppt/slides/slide4.xml" Id="Rf980499e4ec942f1" /><Relationship Type="http://schemas.openxmlformats.org/officeDocument/2006/relationships/slide" Target="/ppt/slides/slide5.xml" Id="R7486218b9de34896" /><Relationship Type="http://schemas.openxmlformats.org/officeDocument/2006/relationships/slide" Target="/ppt/slides/slide6.xml" Id="R2df32a68c6eb4257" /><Relationship Type="http://schemas.openxmlformats.org/officeDocument/2006/relationships/slide" Target="/ppt/slides/slide7.xml" Id="R969fee25ea214780" /><Relationship Type="http://schemas.openxmlformats.org/officeDocument/2006/relationships/slide" Target="/ppt/slides/slide8.xml" Id="R6a4faf01d5884712" /><Relationship Type="http://schemas.openxmlformats.org/officeDocument/2006/relationships/slide" Target="/ppt/slides/slide9.xml" Id="R51cc676a815a41a5" /><Relationship Type="http://schemas.openxmlformats.org/officeDocument/2006/relationships/slide" Target="/ppt/slides/slide10.xml" Id="R4c403b564d5f4756" /><Relationship Type="http://schemas.openxmlformats.org/officeDocument/2006/relationships/slide" Target="/ppt/slides/slide11.xml" Id="R7de807d531b44c58" /><Relationship Type="http://schemas.openxmlformats.org/officeDocument/2006/relationships/slide" Target="/ppt/slides/slide12.xml" Id="R14aba11018344e2d" /><Relationship Type="http://schemas.openxmlformats.org/officeDocument/2006/relationships/slide" Target="/ppt/slides/slide13.xml" Id="R5a9f9ddca7d54b9a" /><Relationship Type="http://schemas.openxmlformats.org/officeDocument/2006/relationships/slide" Target="/ppt/slides/slide14.xml" Id="Raf891b162cd9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b93e6a5a34c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16e9e323344216" /><Relationship Type="http://schemas.openxmlformats.org/officeDocument/2006/relationships/notesMaster" Target="/ppt/notesMasters/notesMaster1.xml" Id="R101068994f4d4a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72d0ae0b544c73" /><Relationship Type="http://schemas.openxmlformats.org/officeDocument/2006/relationships/notesMaster" Target="/ppt/notesMasters/notesMaster1.xml" Id="R8f97c9c9e6684b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1af4038a504943" /><Relationship Type="http://schemas.openxmlformats.org/officeDocument/2006/relationships/notesMaster" Target="/ppt/notesMasters/notesMaster1.xml" Id="R10777581363142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40f5d22a9f41bf" /><Relationship Type="http://schemas.openxmlformats.org/officeDocument/2006/relationships/notesMaster" Target="/ppt/notesMasters/notesMaster1.xml" Id="Re37e3d5b696340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8f480cd3da46c2" /><Relationship Type="http://schemas.openxmlformats.org/officeDocument/2006/relationships/notesMaster" Target="/ppt/notesMasters/notesMaster1.xml" Id="Rda2e4afe7134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ebaaa575b842e3" /><Relationship Type="http://schemas.openxmlformats.org/officeDocument/2006/relationships/notesMaster" Target="/ppt/notesMasters/notesMaster1.xml" Id="R44c8053aaf2240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f308d7be5d4f57" /><Relationship Type="http://schemas.openxmlformats.org/officeDocument/2006/relationships/notesMaster" Target="/ppt/notesMasters/notesMaster1.xml" Id="R738ec5ff3f6943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bfe9c95cb04513" /><Relationship Type="http://schemas.openxmlformats.org/officeDocument/2006/relationships/notesMaster" Target="/ppt/notesMasters/notesMaster1.xml" Id="R0083f8c1406f47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b2c38534f14e82" /><Relationship Type="http://schemas.openxmlformats.org/officeDocument/2006/relationships/notesMaster" Target="/ppt/notesMasters/notesMaster1.xml" Id="R39423ca2eb1c45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e99b52741547ef" /><Relationship Type="http://schemas.openxmlformats.org/officeDocument/2006/relationships/notesMaster" Target="/ppt/notesMasters/notesMaster1.xml" Id="R1e4977d0058345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6cb7f56214418c" /><Relationship Type="http://schemas.openxmlformats.org/officeDocument/2006/relationships/notesMaster" Target="/ppt/notesMasters/notesMaster1.xml" Id="Rf26a361ec9104c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f9adef40e14d65" /><Relationship Type="http://schemas.openxmlformats.org/officeDocument/2006/relationships/notesMaster" Target="/ppt/notesMasters/notesMaster1.xml" Id="Reab2a5c409be48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41a514a772479e" /><Relationship Type="http://schemas.openxmlformats.org/officeDocument/2006/relationships/notesMaster" Target="/ppt/notesMasters/notesMaster1.xml" Id="Rc7d727138e8347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cae5d208c04772" /><Relationship Type="http://schemas.openxmlformats.org/officeDocument/2006/relationships/notesMaster" Target="/ppt/notesMasters/notesMaster1.xml" Id="R16721c7687ba4d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reproduced from the user-provided PDF. Project name: ShipSure. Template instruction slide and unused blank slide omitted. All requested content sections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Differentiation describes our design, not an independently audited competitive comparison. Benefits are hypotheses pending user validation.</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Image is the implemented interface captured during the reviewed deployment, not a wireframe. Date-relative values reflect that capture.</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Firestore stores bounded table snapshots with a versioned transaction. Each request uses a disposable in-memory SQLAlchemy projection. This is a single-demo design, not a general multi-tenant ERP.</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Pricing checked 17 October 2026: https://cloud.google.com/run/pricing ; https://cloud.google.com/firestore/pricing ; https://cloud.google.com/storage/pricing . Free allowances depend on eligibility and aggregate usage. No invoice/billing export has been measured.</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Live screenshot captured after Firestore production activation on 17 October 2026. Synthetic invoice TIR/26/889.</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61 backend tests passed on 17 October 2026. Ten isolated browser workflows, ESLint and a Webpack production build passed on 17 October 2026. Live public API and restart checks are recorded in VALIDATION.md. This is functional verification, not a load or accuracy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implementation; README.md, VALIDATION.md and FIRESTORE.md in the local reviewed working tree. All business examples are synthetic demo data. No customer outcome study or production benchmark.</a:t>
            </a:r>
          </a:p>
          <a:p xmlns:a="http://schemas.openxmlformats.org/drawingml/2006/main">
            <a:r>
              <a:t>Repository URL comes from git remote origin and the user confirmed it as the intended submission repository. Unauthenticated GitHub API returned 404 on 17 October 2026, so public access remains unverified. Demo video has not been recorded yet.</a:t>
            </a:r>
          </a:p>
          <a:p xmlns:a="http://schemas.openxmlformats.org/drawingml/2006/main">
            <a:r>
              <a:t>Template source: One Neuron _ AI Builder Cup.pdf, supplied by user. Original branding artwork retained. Editable body text uses Arial for portability because the PDF Google Sans Flex subset is not an installed complete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artwork from the supplied template,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6ce74f6d384f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ae2e8298fb4e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e54cd824cb4f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289ecd13a24d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b396d0a60c4d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d635e6820448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F43350-E31D-4CC8-AD45-C7780D9F9698}"/>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48CA08-8907-4FCF-AC1B-BD4EF41D2EEB}"/>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CC38D8-9B70-463C-9189-A13F334A48D2}"/>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976E81-F436-4379-BF01-9404736B908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683EE2-8FC7-452A-93AE-1945148BDF9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E1BD69-3798-4734-B537-25813E74839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122820-35AB-4AB9-BBCA-BC7DC24D4E04}"/>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FB96C9-61AA-4A3C-966B-EFE0185B4E14}"/>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A1649B-8BDF-4233-805B-C3E713ECA91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86E05D-353E-4677-A595-FE48E83434A1}"/>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4130ce4a6a4f16" /><Relationship Type="http://schemas.openxmlformats.org/officeDocument/2006/relationships/slideLayout" Target="/ppt/slideLayouts/slideLayout1.xml" Id="Ra71404b2370742e2" /><Relationship Type="http://schemas.openxmlformats.org/officeDocument/2006/relationships/slideLayout" Target="/ppt/slideLayouts/slideLayout2.xml" Id="Rcd18ee95f1e240ed" /><Relationship Type="http://schemas.openxmlformats.org/officeDocument/2006/relationships/slideLayout" Target="/ppt/slideLayouts/slideLayout3.xml" Id="Rb80d30e0a3c34f4b" /><Relationship Type="http://schemas.openxmlformats.org/officeDocument/2006/relationships/slideLayout" Target="/ppt/slideLayouts/slideLayout4.xml" Id="Re0701face3aa45f5" /><Relationship Type="http://schemas.openxmlformats.org/officeDocument/2006/relationships/slideLayout" Target="/ppt/slideLayouts/slideLayout5.xml" Id="R0052f92ebecf49ea" /><Relationship Type="http://schemas.openxmlformats.org/officeDocument/2006/relationships/slideLayout" Target="/ppt/slideLayouts/slideLayout6.xml" Id="Rbcd15f93dc1240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1404b2370742e2"/>
    <p:sldLayoutId xmlns:r="http://schemas.openxmlformats.org/officeDocument/2006/relationships" id="2147483650" r:id="Rcd18ee95f1e240ed"/>
    <p:sldLayoutId xmlns:r="http://schemas.openxmlformats.org/officeDocument/2006/relationships" id="2147483651" r:id="Rb80d30e0a3c34f4b"/>
    <p:sldLayoutId xmlns:r="http://schemas.openxmlformats.org/officeDocument/2006/relationships" id="2147483652" r:id="Re0701face3aa45f5"/>
    <p:sldLayoutId xmlns:r="http://schemas.openxmlformats.org/officeDocument/2006/relationships" id="2147483653" r:id="R0052f92ebecf49ea"/>
    <p:sldLayoutId xmlns:r="http://schemas.openxmlformats.org/officeDocument/2006/relationships" id="2147483654" r:id="Rbcd15f93dc1240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b37b3a04574a23" /><Relationship Type="http://schemas.openxmlformats.org/officeDocument/2006/relationships/image" Target="/ppt/media/image.png" Id="Re9c0cae2bf22494c" /><Relationship Type="http://schemas.openxmlformats.org/officeDocument/2006/relationships/notesSlide" Target="/ppt/notesSlides/notesSlide1.xml" Id="R7d4a6869afab46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39965cf3ce4df3" /><Relationship Type="http://schemas.openxmlformats.org/officeDocument/2006/relationships/image" Target="/ppt/media/image2.png" Id="R0d8bee064d0a4a70" /><Relationship Type="http://schemas.openxmlformats.org/officeDocument/2006/relationships/notesSlide" Target="/ppt/notesSlides/notesSlide2.xml" Id="Rd591e0d7474c4c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0f5b01b21e4ad5" /><Relationship Type="http://schemas.openxmlformats.org/officeDocument/2006/relationships/image" Target="/ppt/media/image3.png" Id="R3d677dca4c514957" /><Relationship Type="http://schemas.openxmlformats.org/officeDocument/2006/relationships/notesSlide" Target="/ppt/notesSlides/notesSlide3.xml" Id="R2aacb5fe08e347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f02db98e93443e" /><Relationship Type="http://schemas.openxmlformats.org/officeDocument/2006/relationships/image" Target="/ppt/media/image4.png" Id="R0c38e52d53114a8e" /><Relationship Type="http://schemas.openxmlformats.org/officeDocument/2006/relationships/notesSlide" Target="/ppt/notesSlides/notesSlide4.xml" Id="R43443b5e241948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3fd54f7d6344d4" /><Relationship Type="http://schemas.openxmlformats.org/officeDocument/2006/relationships/image" Target="/ppt/media/image5.png" Id="R2e1e5ebc276c4f68" /><Relationship Type="http://schemas.openxmlformats.org/officeDocument/2006/relationships/notesSlide" Target="/ppt/notesSlides/notesSlide5.xml" Id="R4b5b6a8f59bb4a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93fb0f40be4bf8" /><Relationship Type="http://schemas.openxmlformats.org/officeDocument/2006/relationships/image" Target="/ppt/media/image6.png" Id="Raa416df108cc449a" /><Relationship Type="http://schemas.openxmlformats.org/officeDocument/2006/relationships/image" Target="/ppt/media/image.jpeg" Id="R1d09fa86a5ec4033" /><Relationship Type="http://schemas.openxmlformats.org/officeDocument/2006/relationships/notesSlide" Target="/ppt/notesSlides/notesSlide6.xml" Id="R7b216cb69cac4e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c7114b76b84060" /><Relationship Type="http://schemas.openxmlformats.org/officeDocument/2006/relationships/image" Target="/ppt/media/image7.png" Id="R759308fcc3a44936" /><Relationship Type="http://schemas.openxmlformats.org/officeDocument/2006/relationships/notesSlide" Target="/ppt/notesSlides/notesSlide7.xml" Id="R1c33f5e840a549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a8a8033c1c4d8f" /><Relationship Type="http://schemas.openxmlformats.org/officeDocument/2006/relationships/image" Target="/ppt/media/image8.png" Id="Rf7bcda616b01464a" /><Relationship Type="http://schemas.openxmlformats.org/officeDocument/2006/relationships/notesSlide" Target="/ppt/notesSlides/notesSlide8.xml" Id="R92b2d0256d2541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ee895a120e412b" /><Relationship Type="http://schemas.openxmlformats.org/officeDocument/2006/relationships/image" Target="/ppt/media/image9.png" Id="Re750b6ba71814c5b" /><Relationship Type="http://schemas.openxmlformats.org/officeDocument/2006/relationships/notesSlide" Target="/ppt/notesSlides/notesSlide9.xml" Id="R4ae6673bf4fe4e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103e4285474f6d" /><Relationship Type="http://schemas.openxmlformats.org/officeDocument/2006/relationships/image" Target="/ppt/media/image10.png" Id="Rf66c14451706426e" /><Relationship Type="http://schemas.openxmlformats.org/officeDocument/2006/relationships/image" Target="/ppt/media/image2.jpeg" Id="Ra1b4f803b04b4762" /><Relationship Type="http://schemas.openxmlformats.org/officeDocument/2006/relationships/notesSlide" Target="/ppt/notesSlides/notesSlide10.xml" Id="R0f7c1562b1f14c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8f7abe9fe74cb0" /><Relationship Type="http://schemas.openxmlformats.org/officeDocument/2006/relationships/image" Target="/ppt/media/image11.png" Id="R3f77964a60cb4e33" /><Relationship Type="http://schemas.openxmlformats.org/officeDocument/2006/relationships/notesSlide" Target="/ppt/notesSlides/notesSlide11.xml" Id="Rff80b27662174d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70b2e8817d42d2" /><Relationship Type="http://schemas.openxmlformats.org/officeDocument/2006/relationships/image" Target="/ppt/media/image12.png" Id="R994c3a1708e44a4e" /><Relationship Type="http://schemas.openxmlformats.org/officeDocument/2006/relationships/notesSlide" Target="/ppt/notesSlides/notesSlide12.xml" Id="R08a28c12d55847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a90ebf0d27c4ecf" /><Relationship Type="http://schemas.openxmlformats.org/officeDocument/2006/relationships/image" Target="/ppt/media/image13.png" Id="Re034a39036b04e79" /><Relationship Type="http://schemas.openxmlformats.org/officeDocument/2006/relationships/hyperlink" Target="https://github.com/RisheekNayak/AI-Builder-Cup-2026" TargetMode="External" Id="R20d048cfe94744d3" /><Relationship Type="http://schemas.openxmlformats.org/officeDocument/2006/relationships/hyperlink" Target="https://shipsure-web-117561127510.us-central1.run.app/" TargetMode="External" Id="R87f751abb15944e0" /><Relationship Type="http://schemas.openxmlformats.org/officeDocument/2006/relationships/notesSlide" Target="/ppt/notesSlides/notesSlide13.xml" Id="R76a2a53aa9b240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e2baee3b1d745e1" /><Relationship Type="http://schemas.openxmlformats.org/officeDocument/2006/relationships/image" Target="/ppt/media/image14.png" Id="R25607b745eca4ce5" /><Relationship Type="http://schemas.openxmlformats.org/officeDocument/2006/relationships/notesSlide" Target="/ppt/notesSlides/notesSlide14.xml" Id="Rb40ebc8f05b8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48DE043-C506-4B6B-97AB-5E43112880E7}"/>
              </a:ext>
            </a:extLst>
          </p:cNvPr>
          <p:cNvPicPr>
            <a:picLocks xmlns:a="http://schemas.openxmlformats.org/drawingml/2006/main" noChangeAspect="1"/>
          </p:cNvPicPr>
          <p:nvPr/>
        </p:nvPicPr>
        <p:blipFill>
          <a:blip xmlns:r="http://schemas.openxmlformats.org/officeDocument/2006/relationships" xmlns:a="http://schemas.openxmlformats.org/drawingml/2006/main" r:embed="Re9c0cae2bf22494c"/>
          <a:stretch xmlns:a="http://schemas.openxmlformats.org/drawingml/2006/main"/>
        </p:blipFill>
        <p:spPr>
          <a:xfrm xmlns:a="http://schemas.openxmlformats.org/drawingml/2006/main">
            <a:off x="5" y="0"/>
            <a:ext cx="9143989" cy="27177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C91D08-B0D7-413A-8C9E-2CC5598C6463}"/>
              </a:ext>
            </a:extLst>
          </p:cNvPr>
          <p:cNvSpPr>
            <a:spLocks xmlns:a="http://schemas.openxmlformats.org/drawingml/2006/main" noGrp="1"/>
          </p:cNvSpPr>
          <p:nvPr/>
        </p:nvSpPr>
        <p:spPr>
          <a:xfrm xmlns:a="http://schemas.openxmlformats.org/drawingml/2006/main">
            <a:off x="247650" y="3028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717"/>
                </a:solidFill>
                <a:latin typeface="Arial"/>
                <a:ea typeface="Arial"/>
                <a:cs typeface="Arial"/>
              </a:defRPr>
            </a:defPPr>
          </a:lstStyle>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Team Details</a:t>
            </a:r>
          </a:p>
        </p:txBody>
      </p:sp>
      <p:sp>
        <p:nvSpPr>
          <p:cNvPr id="3" name="">
            <a:extLst xmlns:a="http://schemas.openxmlformats.org/drawingml/2006/main">
              <a:ext uri="{FF2B5EF4-FFF2-40B4-BE49-F238E27FC236}">
                <a16:creationId xmlns:a16="http://schemas.microsoft.com/office/drawing/2014/main" id="{19DDB81E-048B-4397-AB11-99C8368CB788}"/>
              </a:ext>
            </a:extLst>
          </p:cNvPr>
          <p:cNvSpPr>
            <a:spLocks xmlns:a="http://schemas.openxmlformats.org/drawingml/2006/main" noGrp="1"/>
          </p:cNvSpPr>
          <p:nvPr/>
        </p:nvSpPr>
        <p:spPr>
          <a:xfrm xmlns:a="http://schemas.openxmlformats.org/drawingml/2006/main">
            <a:off x="6972300" y="30384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338CA"/>
                </a:solidFill>
                <a:latin typeface="Arial"/>
                <a:ea typeface="Arial"/>
                <a:cs typeface="Arial"/>
              </a:defRPr>
            </a:defPPr>
          </a:lstStyle>
          <a:p xmlns:a="http://schemas.openxmlformats.org/drawingml/2006/main">
            <a:pPr>
              <a:defRPr sz="2100" b="1">
                <a:solidFill>
                  <a:srgbClr val="4338CA"/>
                </a:solidFill>
                <a:latin typeface="Arial"/>
                <a:ea typeface="Arial"/>
                <a:cs typeface="Arial"/>
              </a:defRPr>
            </a:pPr>
            <a:r>
              <a:rPr sz="2100" b="1">
                <a:solidFill>
                  <a:srgbClr val="4338CA"/>
                </a:solidFill>
                <a:latin typeface="Arial"/>
                <a:ea typeface="Arial"/>
                <a:cs typeface="Arial"/>
              </a:rPr>
              <a:t>ShipSure</a:t>
            </a:r>
          </a:p>
        </p:txBody>
      </p:sp>
      <p:sp>
        <p:nvSpPr>
          <p:cNvPr id="4" name="">
            <a:extLst xmlns:a="http://schemas.openxmlformats.org/drawingml/2006/main">
              <a:ext uri="{FF2B5EF4-FFF2-40B4-BE49-F238E27FC236}">
                <a16:creationId xmlns:a16="http://schemas.microsoft.com/office/drawing/2014/main" id="{E638DE41-7080-4096-A413-A514EFB7A383}"/>
              </a:ext>
            </a:extLst>
          </p:cNvPr>
          <p:cNvSpPr>
            <a:spLocks xmlns:a="http://schemas.openxmlformats.org/drawingml/2006/main" noGrp="1"/>
          </p:cNvSpPr>
          <p:nvPr/>
        </p:nvSpPr>
        <p:spPr>
          <a:xfrm xmlns:a="http://schemas.openxmlformats.org/drawingml/2006/main">
            <a:off x="723900" y="3609975"/>
            <a:ext cx="7810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0">
                <a:solidFill>
                  <a:srgbClr val="171717"/>
                </a:solidFill>
                <a:latin typeface="Arial"/>
                <a:ea typeface="Arial"/>
                <a:cs typeface="Arial"/>
              </a:defRPr>
            </a:defPPr>
          </a:lstStyle>
          <a:p xmlns:a="http://schemas.openxmlformats.org/drawingml/2006/main">
            <a:pPr>
              <a:defRPr sz="1600" b="0">
                <a:solidFill>
                  <a:srgbClr val="171717"/>
                </a:solidFill>
                <a:latin typeface="Arial"/>
                <a:ea typeface="Arial"/>
                <a:cs typeface="Arial"/>
              </a:defRPr>
            </a:pPr>
            <a:r>
              <a:rPr sz="1600" b="0">
                <a:solidFill>
                  <a:srgbClr val="171717"/>
                </a:solidFill>
                <a:latin typeface="Arial"/>
                <a:ea typeface="Arial"/>
                <a:cs typeface="Arial"/>
              </a:rPr>
              <a:t>a.   Team name: One Neuron</a:t>
            </a:r>
          </a:p>
          <a:p xmlns:a="http://schemas.openxmlformats.org/drawingml/2006/main">
            <a:pPr>
              <a:defRPr sz="1600" b="0">
                <a:solidFill>
                  <a:srgbClr val="171717"/>
                </a:solidFill>
                <a:latin typeface="Arial"/>
                <a:ea typeface="Arial"/>
                <a:cs typeface="Arial"/>
              </a:defRPr>
            </a:pPr>
            <a:r>
              <a:rPr sz="1600" b="0">
                <a:solidFill>
                  <a:srgbClr val="171717"/>
                </a:solidFill>
                <a:latin typeface="Arial"/>
                <a:ea typeface="Arial"/>
                <a:cs typeface="Arial"/>
              </a:rPr>
              <a:t>b.   Team leader name: Tanisha Jain</a:t>
            </a:r>
          </a:p>
          <a:p xmlns:a="http://schemas.openxmlformats.org/drawingml/2006/main">
            <a:pPr>
              <a:defRPr sz="1600" b="0">
                <a:solidFill>
                  <a:srgbClr val="171717"/>
                </a:solidFill>
                <a:latin typeface="Arial"/>
                <a:ea typeface="Arial"/>
                <a:cs typeface="Arial"/>
              </a:defRPr>
            </a:pPr>
            <a:r>
              <a:rPr sz="1600" b="0">
                <a:solidFill>
                  <a:srgbClr val="171717"/>
                </a:solidFill>
                <a:latin typeface="Arial"/>
                <a:ea typeface="Arial"/>
                <a:cs typeface="Arial"/>
              </a:rPr>
              <a:t>c.   Problem Statement: Manufacturing: Intelligent Operations &amp; Industrial Efficiency</a:t>
            </a:r>
          </a:p>
        </p:txBody>
      </p:sp>
    </p:spTree>
    <p:extLst>
      <p:ext uri="{BB962C8B-B14F-4D97-AF65-F5344CB8AC3E}">
        <p14:creationId xmlns:p14="http://schemas.microsoft.com/office/powerpoint/2010/main" val="6407078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E5DD9F1-35DB-4A30-805D-3C82008AAC3B}"/>
              </a:ext>
            </a:extLst>
          </p:cNvPr>
          <p:cNvPicPr>
            <a:picLocks xmlns:a="http://schemas.openxmlformats.org/drawingml/2006/main" noChangeAspect="1"/>
          </p:cNvPicPr>
          <p:nvPr/>
        </p:nvPicPr>
        <p:blipFill>
          <a:blip xmlns:r="http://schemas.openxmlformats.org/officeDocument/2006/relationships" xmlns:a="http://schemas.openxmlformats.org/drawingml/2006/main" r:embed="R0d8bee064d0a4a70"/>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0AF47A-4DF4-4D0B-BDED-D3C2C415643D}"/>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Brief about the idea</a:t>
            </a:r>
          </a:p>
        </p:txBody>
      </p:sp>
      <p:sp>
        <p:nvSpPr>
          <p:cNvPr id="3" name="">
            <a:extLst xmlns:a="http://schemas.openxmlformats.org/drawingml/2006/main">
              <a:ext uri="{FF2B5EF4-FFF2-40B4-BE49-F238E27FC236}">
                <a16:creationId xmlns:a16="http://schemas.microsoft.com/office/drawing/2014/main" id="{45FE3304-0A22-4750-9AFC-2BA6A09DEF27}"/>
              </a:ext>
            </a:extLst>
          </p:cNvPr>
          <p:cNvSpPr>
            <a:spLocks xmlns:a="http://schemas.openxmlformats.org/drawingml/2006/main" noGrp="1"/>
          </p:cNvSpPr>
          <p:nvPr/>
        </p:nvSpPr>
        <p:spPr>
          <a:xfrm xmlns:a="http://schemas.openxmlformats.org/drawingml/2006/main">
            <a:off x="342900" y="1447800"/>
            <a:ext cx="6191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4338CA"/>
                </a:solidFill>
                <a:latin typeface="Arial"/>
                <a:ea typeface="Arial"/>
                <a:cs typeface="Arial"/>
              </a:defRPr>
            </a:defPPr>
          </a:lstStyle>
          <a:p xmlns:a="http://schemas.openxmlformats.org/drawingml/2006/main">
            <a:pPr>
              <a:defRPr sz="3300" b="1">
                <a:solidFill>
                  <a:srgbClr val="4338CA"/>
                </a:solidFill>
                <a:latin typeface="Arial"/>
                <a:ea typeface="Arial"/>
                <a:cs typeface="Arial"/>
              </a:defRPr>
            </a:pPr>
            <a:r>
              <a:rPr sz="3300" b="1">
                <a:solidFill>
                  <a:srgbClr val="4338CA"/>
                </a:solidFill>
                <a:latin typeface="Arial"/>
                <a:ea typeface="Arial"/>
                <a:cs typeface="Arial"/>
              </a:rPr>
              <a:t>ShipSure</a:t>
            </a:r>
          </a:p>
        </p:txBody>
      </p:sp>
      <p:sp>
        <p:nvSpPr>
          <p:cNvPr id="4" name="">
            <a:extLst xmlns:a="http://schemas.openxmlformats.org/drawingml/2006/main">
              <a:ext uri="{FF2B5EF4-FFF2-40B4-BE49-F238E27FC236}">
                <a16:creationId xmlns:a16="http://schemas.microsoft.com/office/drawing/2014/main" id="{3253BE0B-329D-48EC-BBC6-A52CE4B94FDE}"/>
              </a:ext>
            </a:extLst>
          </p:cNvPr>
          <p:cNvSpPr>
            <a:spLocks xmlns:a="http://schemas.openxmlformats.org/drawingml/2006/main" noGrp="1"/>
          </p:cNvSpPr>
          <p:nvPr/>
        </p:nvSpPr>
        <p:spPr>
          <a:xfrm xmlns:a="http://schemas.openxmlformats.org/drawingml/2006/main">
            <a:off x="342900" y="205740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717"/>
                </a:solidFill>
                <a:latin typeface="Arial"/>
                <a:ea typeface="Arial"/>
                <a:cs typeface="Arial"/>
              </a:defRPr>
            </a:defPPr>
          </a:lstStyle>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An AI operations assistant for small manufacturers</a:t>
            </a:r>
          </a:p>
        </p:txBody>
      </p:sp>
      <p:sp>
        <p:nvSpPr>
          <p:cNvPr id="5" name="">
            <a:extLst xmlns:a="http://schemas.openxmlformats.org/drawingml/2006/main">
              <a:ext uri="{FF2B5EF4-FFF2-40B4-BE49-F238E27FC236}">
                <a16:creationId xmlns:a16="http://schemas.microsoft.com/office/drawing/2014/main" id="{AB8857BB-C182-45CD-B976-292F26B45067}"/>
              </a:ext>
            </a:extLst>
          </p:cNvPr>
          <p:cNvSpPr>
            <a:spLocks xmlns:a="http://schemas.openxmlformats.org/drawingml/2006/main" noGrp="1"/>
          </p:cNvSpPr>
          <p:nvPr/>
        </p:nvSpPr>
        <p:spPr>
          <a:xfrm xmlns:a="http://schemas.openxmlformats.org/drawingml/2006/main">
            <a:off x="342900" y="2714625"/>
            <a:ext cx="828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71717"/>
                </a:solidFill>
                <a:latin typeface="Arial"/>
                <a:ea typeface="Arial"/>
                <a:cs typeface="Arial"/>
              </a:defRPr>
            </a:defPPr>
          </a:lstStyle>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Owners ask about overdue payments and late orders in plain language. ShipSure answers from their records, opens the relevant workspace and helps prepare the next action.</a:t>
            </a:r>
          </a:p>
        </p:txBody>
      </p:sp>
      <p:sp>
        <p:nvSpPr>
          <p:cNvPr id="6" name="">
            <a:extLst xmlns:a="http://schemas.openxmlformats.org/drawingml/2006/main">
              <a:ext uri="{FF2B5EF4-FFF2-40B4-BE49-F238E27FC236}">
                <a16:creationId xmlns:a16="http://schemas.microsoft.com/office/drawing/2014/main" id="{D1CE4A93-B062-41BB-9798-61DAF66B2123}"/>
              </a:ext>
            </a:extLst>
          </p:cNvPr>
          <p:cNvSpPr>
            <a:spLocks xmlns:a="http://schemas.openxmlformats.org/drawingml/2006/main" noGrp="1"/>
          </p:cNvSpPr>
          <p:nvPr/>
        </p:nvSpPr>
        <p:spPr>
          <a:xfrm xmlns:a="http://schemas.openxmlformats.org/drawingml/2006/main">
            <a:off x="342900" y="3867150"/>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71717"/>
                </a:solidFill>
                <a:latin typeface="Arial"/>
                <a:ea typeface="Arial"/>
                <a:cs typeface="Arial"/>
              </a:defRPr>
            </a:defPPr>
          </a:lstStyle>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The same workspace checks export invoices and prepares draft shipping documents for review.</a:t>
            </a:r>
          </a:p>
        </p:txBody>
      </p:sp>
    </p:spTree>
    <p:extLst>
      <p:ext uri="{BB962C8B-B14F-4D97-AF65-F5344CB8AC3E}">
        <p14:creationId xmlns:p14="http://schemas.microsoft.com/office/powerpoint/2010/main" val="13089203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ADF1D9B-8FD1-4259-9546-226A34E25F28}"/>
              </a:ext>
            </a:extLst>
          </p:cNvPr>
          <p:cNvPicPr>
            <a:picLocks xmlns:a="http://schemas.openxmlformats.org/drawingml/2006/main" noChangeAspect="1"/>
          </p:cNvPicPr>
          <p:nvPr/>
        </p:nvPicPr>
        <p:blipFill>
          <a:blip xmlns:r="http://schemas.openxmlformats.org/officeDocument/2006/relationships" xmlns:a="http://schemas.openxmlformats.org/drawingml/2006/main" r:embed="R3d677dca4c514957"/>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C16C79-815B-4F6B-B86C-5C9C59EF775D}"/>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Opportunities</a:t>
            </a:r>
          </a:p>
        </p:txBody>
      </p:sp>
      <p:sp>
        <p:nvSpPr>
          <p:cNvPr id="3" name="">
            <a:extLst xmlns:a="http://schemas.openxmlformats.org/drawingml/2006/main">
              <a:ext uri="{FF2B5EF4-FFF2-40B4-BE49-F238E27FC236}">
                <a16:creationId xmlns:a16="http://schemas.microsoft.com/office/drawing/2014/main" id="{5146489D-20A6-419F-B4BB-410FEEDAAEBC}"/>
              </a:ext>
            </a:extLst>
          </p:cNvPr>
          <p:cNvSpPr>
            <a:spLocks xmlns:a="http://schemas.openxmlformats.org/drawingml/2006/main" noGrp="1"/>
          </p:cNvSpPr>
          <p:nvPr/>
        </p:nvSpPr>
        <p:spPr>
          <a:xfrm xmlns:a="http://schemas.openxmlformats.org/drawingml/2006/main">
            <a:off x="342900" y="14573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0040F93A-52E0-4D4A-951B-9244D210A67E}"/>
              </a:ext>
            </a:extLst>
          </p:cNvPr>
          <p:cNvSpPr>
            <a:spLocks xmlns:a="http://schemas.openxmlformats.org/drawingml/2006/main" noGrp="1"/>
          </p:cNvSpPr>
          <p:nvPr/>
        </p:nvSpPr>
        <p:spPr>
          <a:xfrm xmlns:a="http://schemas.openxmlformats.org/drawingml/2006/main">
            <a:off x="342900" y="1828800"/>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Orders, collections and export paperwork sit in separate files. Owners spend time finding the record behind each decision.</a:t>
            </a:r>
          </a:p>
        </p:txBody>
      </p:sp>
      <p:sp>
        <p:nvSpPr>
          <p:cNvPr id="5" name="">
            <a:extLst xmlns:a="http://schemas.openxmlformats.org/drawingml/2006/main">
              <a:ext uri="{FF2B5EF4-FFF2-40B4-BE49-F238E27FC236}">
                <a16:creationId xmlns:a16="http://schemas.microsoft.com/office/drawing/2014/main" id="{E4EC67B8-E984-4145-BD16-B11E16D3D0EC}"/>
              </a:ext>
            </a:extLst>
          </p:cNvPr>
          <p:cNvSpPr>
            <a:spLocks xmlns:a="http://schemas.openxmlformats.org/drawingml/2006/main" noGrp="1"/>
          </p:cNvSpPr>
          <p:nvPr/>
        </p:nvSpPr>
        <p:spPr>
          <a:xfrm xmlns:a="http://schemas.openxmlformats.org/drawingml/2006/main">
            <a:off x="4819650" y="14573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How ShipSure helps</a:t>
            </a:r>
          </a:p>
        </p:txBody>
      </p:sp>
      <p:sp>
        <p:nvSpPr>
          <p:cNvPr id="6" name="">
            <a:extLst xmlns:a="http://schemas.openxmlformats.org/drawingml/2006/main">
              <a:ext uri="{FF2B5EF4-FFF2-40B4-BE49-F238E27FC236}">
                <a16:creationId xmlns:a16="http://schemas.microsoft.com/office/drawing/2014/main" id="{0BD6DE22-5F24-4030-AEE1-3388AFEE0DAD}"/>
              </a:ext>
            </a:extLst>
          </p:cNvPr>
          <p:cNvSpPr>
            <a:spLocks xmlns:a="http://schemas.openxmlformats.org/drawingml/2006/main" noGrp="1"/>
          </p:cNvSpPr>
          <p:nvPr/>
        </p:nvSpPr>
        <p:spPr>
          <a:xfrm xmlns:a="http://schemas.openxmlformats.org/drawingml/2006/main">
            <a:off x="4819650" y="1828800"/>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A question opens the relevant ledger or order. Confirmed actions update the same business records.</a:t>
            </a:r>
          </a:p>
        </p:txBody>
      </p:sp>
      <p:sp>
        <p:nvSpPr>
          <p:cNvPr id="7" name="">
            <a:extLst xmlns:a="http://schemas.openxmlformats.org/drawingml/2006/main">
              <a:ext uri="{FF2B5EF4-FFF2-40B4-BE49-F238E27FC236}">
                <a16:creationId xmlns:a16="http://schemas.microsoft.com/office/drawing/2014/main" id="{7DAC5613-9C78-40B4-A2AC-AA4C48F7132B}"/>
              </a:ext>
            </a:extLst>
          </p:cNvPr>
          <p:cNvSpPr>
            <a:spLocks xmlns:a="http://schemas.openxmlformats.org/drawingml/2006/main" noGrp="1"/>
          </p:cNvSpPr>
          <p:nvPr/>
        </p:nvSpPr>
        <p:spPr>
          <a:xfrm xmlns:a="http://schemas.openxmlformats.org/drawingml/2006/main">
            <a:off x="342900" y="3162300"/>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Proposed USP</a:t>
            </a:r>
          </a:p>
        </p:txBody>
      </p:sp>
      <p:sp>
        <p:nvSpPr>
          <p:cNvPr id="8" name="">
            <a:extLst xmlns:a="http://schemas.openxmlformats.org/drawingml/2006/main">
              <a:ext uri="{FF2B5EF4-FFF2-40B4-BE49-F238E27FC236}">
                <a16:creationId xmlns:a16="http://schemas.microsoft.com/office/drawing/2014/main" id="{52AC4A77-39B4-4D1F-BE2B-37F36AB9C9B5}"/>
              </a:ext>
            </a:extLst>
          </p:cNvPr>
          <p:cNvSpPr>
            <a:spLocks xmlns:a="http://schemas.openxmlformats.org/drawingml/2006/main" noGrp="1"/>
          </p:cNvSpPr>
          <p:nvPr/>
        </p:nvSpPr>
        <p:spPr>
          <a:xfrm xmlns:a="http://schemas.openxmlformats.org/drawingml/2006/main">
            <a:off x="342900" y="3533775"/>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A single conversation connects factory operations with export checks, with links back to the underlying records.</a:t>
            </a:r>
          </a:p>
        </p:txBody>
      </p:sp>
      <p:sp>
        <p:nvSpPr>
          <p:cNvPr id="9" name="">
            <a:extLst xmlns:a="http://schemas.openxmlformats.org/drawingml/2006/main">
              <a:ext uri="{FF2B5EF4-FFF2-40B4-BE49-F238E27FC236}">
                <a16:creationId xmlns:a16="http://schemas.microsoft.com/office/drawing/2014/main" id="{D671A3F0-7A88-466B-8ACE-9C990AEC02C7}"/>
              </a:ext>
            </a:extLst>
          </p:cNvPr>
          <p:cNvSpPr>
            <a:spLocks xmlns:a="http://schemas.openxmlformats.org/drawingml/2006/main" noGrp="1"/>
          </p:cNvSpPr>
          <p:nvPr/>
        </p:nvSpPr>
        <p:spPr>
          <a:xfrm xmlns:a="http://schemas.openxmlformats.org/drawingml/2006/main">
            <a:off x="4819650" y="3162300"/>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Expected benefit</a:t>
            </a:r>
          </a:p>
        </p:txBody>
      </p:sp>
      <p:sp>
        <p:nvSpPr>
          <p:cNvPr id="10" name="">
            <a:extLst xmlns:a="http://schemas.openxmlformats.org/drawingml/2006/main">
              <a:ext uri="{FF2B5EF4-FFF2-40B4-BE49-F238E27FC236}">
                <a16:creationId xmlns:a16="http://schemas.microsoft.com/office/drawing/2014/main" id="{353127D8-7892-435D-B920-76475690FA84}"/>
              </a:ext>
            </a:extLst>
          </p:cNvPr>
          <p:cNvSpPr>
            <a:spLocks xmlns:a="http://schemas.openxmlformats.org/drawingml/2006/main" noGrp="1"/>
          </p:cNvSpPr>
          <p:nvPr/>
        </p:nvSpPr>
        <p:spPr>
          <a:xfrm xmlns:a="http://schemas.openxmlformats.org/drawingml/2006/main">
            <a:off x="4819650" y="3533775"/>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Fewer lookups and less repeated entry. A pilot will measure time saved and document corrections.</a:t>
            </a:r>
          </a:p>
        </p:txBody>
      </p:sp>
    </p:spTree>
    <p:extLst>
      <p:ext uri="{BB962C8B-B14F-4D97-AF65-F5344CB8AC3E}">
        <p14:creationId xmlns:p14="http://schemas.microsoft.com/office/powerpoint/2010/main" val="1307975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59DDADF-05CA-4785-B6EC-2E5F904843D0}"/>
              </a:ext>
            </a:extLst>
          </p:cNvPr>
          <p:cNvPicPr>
            <a:picLocks xmlns:a="http://schemas.openxmlformats.org/drawingml/2006/main" noChangeAspect="1"/>
          </p:cNvPicPr>
          <p:nvPr/>
        </p:nvPicPr>
        <p:blipFill>
          <a:blip xmlns:r="http://schemas.openxmlformats.org/officeDocument/2006/relationships" xmlns:a="http://schemas.openxmlformats.org/drawingml/2006/main" r:embed="R0c38e52d53114a8e"/>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006525-C8AB-43E5-8649-68391B7AC304}"/>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List of features offered by the solution</a:t>
            </a:r>
          </a:p>
        </p:txBody>
      </p:sp>
      <p:graphicFrame>
        <p:nvGraphicFramePr>
          <p:cNvPr id="3" name="">
            <a:extLst xmlns:a="http://schemas.openxmlformats.org/drawingml/2006/main">
              <a:ext uri="{FF2B5EF4-FFF2-40B4-BE49-F238E27FC236}">
                <a16:creationId xmlns:a16="http://schemas.microsoft.com/office/drawing/2014/main" id="{C7DE5138-27CF-428C-B2E5-047F971CAEA2}"/>
              </a:ext>
            </a:extLst>
          </p:cNvPr>
          <p:cNvGraphicFramePr/>
          <p:nvPr/>
        </p:nvGraphicFramePr>
        <p:xfrm>
          <a:off xmlns:a="http://schemas.openxmlformats.org/drawingml/2006/main" x="342900" y="1438275"/>
          <a:ext xmlns:a="http://schemas.openxmlformats.org/drawingml/2006/main" cx="8458200" cy="2933700"/>
        </p:xfrm>
        <a:graphic xmlns:a="http://schemas.openxmlformats.org/drawingml/2006/main">
          <a:graphicData uri="http://schemas.openxmlformats.org/drawingml/2006/table">
            <a:tbl>
              <a:tblPr/>
              <a:tblGrid>
                <a:gridCol w="4229100"/>
                <a:gridCol w="4229100"/>
              </a:tblGrid>
              <a:tr h="488950">
                <a:tc>
                  <a:txBody>
                    <a:bodyPr/>
                    <a:lstStyle/>
                    <a:p>
                      <a:r>
                        <a:rPr sz="1275" b="1">
                          <a:solidFill>
                            <a:srgbClr val="171717"/>
                          </a:solidFill>
                          <a:latin typeface="Arial"/>
                          <a:ea typeface="Arial"/>
                          <a:cs typeface="Arial"/>
                        </a:rPr>
                        <a:t>Business operations</a:t>
                      </a:r>
                    </a:p>
                  </a:txBody>
                  <a:tcPr marL="91440" marR="91440" marT="45720" marB="45720">
                    <a:lnL w="5715">
                      <a:solidFill>
                        <a:srgbClr val="D5D5DF"/>
                      </a:solidFill>
                      <a:prstDash val="solid"/>
                    </a:lnL>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c>
                  <a:txBody>
                    <a:bodyPr/>
                    <a:lstStyle/>
                    <a:p>
                      <a:r>
                        <a:rPr sz="1275" b="1">
                          <a:solidFill>
                            <a:srgbClr val="171717"/>
                          </a:solidFill>
                          <a:latin typeface="Arial"/>
                          <a:ea typeface="Arial"/>
                          <a:cs typeface="Arial"/>
                        </a:rPr>
                        <a:t>Export workflow</a:t>
                      </a:r>
                    </a:p>
                  </a:txBody>
                  <a:tcPr marL="91440" marR="91440" marT="45720" marB="45720">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r>
              <a:tr h="488950">
                <a:tc>
                  <a:txBody>
                    <a:bodyPr/>
                    <a:lstStyle/>
                    <a:p>
                      <a:r>
                        <a:rPr sz="1200" b="0">
                          <a:solidFill>
                            <a:srgbClr val="171717"/>
                          </a:solidFill>
                          <a:latin typeface="Arial"/>
                          <a:ea typeface="Arial"/>
                          <a:cs typeface="Arial"/>
                        </a:rPr>
                        <a:t>Orders, partial dispatches and linked invoices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Invoice upload and editable extraction</a:t>
                      </a:r>
                    </a:p>
                  </a:txBody>
                  <a:tcPr marL="91440" marR="91440" marT="45720" marB="45720">
                    <a:lnR w="5715">
                      <a:solidFill>
                        <a:srgbClr val="D5D5DF"/>
                      </a:solidFill>
                      <a:prstDash val="solid"/>
                    </a:lnR>
                    <a:lnB w="5715">
                      <a:solidFill>
                        <a:srgbClr val="D5D5DF"/>
                      </a:solidFill>
                      <a:prstDash val="solid"/>
                    </a:lnB>
                    <a:solidFill>
                      <a:srgbClr val="FFFFFF"/>
                    </a:solidFill>
                  </a:tcPr>
                </a:tc>
              </a:tr>
              <a:tr h="488950">
                <a:tc>
                  <a:txBody>
                    <a:bodyPr/>
                    <a:lstStyle/>
                    <a:p>
                      <a:r>
                        <a:rPr sz="1200" b="0">
                          <a:solidFill>
                            <a:srgbClr val="171717"/>
                          </a:solidFill>
                          <a:latin typeface="Arial"/>
                          <a:ea typeface="Arial"/>
                          <a:cs typeface="Arial"/>
                        </a:rPr>
                        <a:t>Receivables, payment allocation and statements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FTA eligibility and SCOMET screening</a:t>
                      </a:r>
                    </a:p>
                  </a:txBody>
                  <a:tcPr marL="91440" marR="91440" marT="45720" marB="45720">
                    <a:lnR w="5715">
                      <a:solidFill>
                        <a:srgbClr val="D5D5DF"/>
                      </a:solidFill>
                      <a:prstDash val="solid"/>
                    </a:lnR>
                    <a:lnB w="5715">
                      <a:solidFill>
                        <a:srgbClr val="D5D5DF"/>
                      </a:solidFill>
                      <a:prstDash val="solid"/>
                    </a:lnB>
                    <a:solidFill>
                      <a:srgbClr val="FFFFFF"/>
                    </a:solidFill>
                  </a:tcPr>
                </a:tc>
              </a:tr>
              <a:tr h="488950">
                <a:tc>
                  <a:txBody>
                    <a:bodyPr/>
                    <a:lstStyle/>
                    <a:p>
                      <a:r>
                        <a:rPr sz="1200" b="0">
                          <a:solidFill>
                            <a:srgbClr val="171717"/>
                          </a:solidFill>
                          <a:latin typeface="Arial"/>
                          <a:ea typeface="Arial"/>
                          <a:cs typeface="Arial"/>
                        </a:rPr>
                        <a:t>English and Hinglish assistant with record links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Risk explanation with policy context</a:t>
                      </a:r>
                    </a:p>
                  </a:txBody>
                  <a:tcPr marL="91440" marR="91440" marT="45720" marB="45720">
                    <a:lnR w="5715">
                      <a:solidFill>
                        <a:srgbClr val="D5D5DF"/>
                      </a:solidFill>
                      <a:prstDash val="solid"/>
                    </a:lnR>
                    <a:lnB w="5715">
                      <a:solidFill>
                        <a:srgbClr val="D5D5DF"/>
                      </a:solidFill>
                      <a:prstDash val="solid"/>
                    </a:lnB>
                    <a:solidFill>
                      <a:srgbClr val="FFFFFF"/>
                    </a:solidFill>
                  </a:tcPr>
                </a:tc>
              </a:tr>
              <a:tr h="488950">
                <a:tc>
                  <a:txBody>
                    <a:bodyPr/>
                    <a:lstStyle/>
                    <a:p>
                      <a:r>
                        <a:rPr sz="1200" b="0">
                          <a:solidFill>
                            <a:srgbClr val="171717"/>
                          </a:solidFill>
                          <a:latin typeface="Arial"/>
                          <a:ea typeface="Arial"/>
                          <a:cs typeface="Arial"/>
                        </a:rPr>
                        <a:t>Confirmation before supported chat writes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Draft Shipping Bill and Certificate of Origin</a:t>
                      </a:r>
                    </a:p>
                  </a:txBody>
                  <a:tcPr marL="91440" marR="91440" marT="45720" marB="45720">
                    <a:lnR w="5715">
                      <a:solidFill>
                        <a:srgbClr val="D5D5DF"/>
                      </a:solidFill>
                      <a:prstDash val="solid"/>
                    </a:lnR>
                    <a:lnB w="5715">
                      <a:solidFill>
                        <a:srgbClr val="D5D5DF"/>
                      </a:solidFill>
                      <a:prstDash val="solid"/>
                    </a:lnB>
                    <a:solidFill>
                      <a:srgbClr val="FFFFFF"/>
                    </a:solidFill>
                  </a:tcPr>
                </a:tc>
              </a:tr>
              <a:tr h="488950">
                <a:tc>
                  <a:txBody>
                    <a:bodyPr/>
                    <a:lstStyle/>
                    <a:p>
                      <a:r>
                        <a:rPr sz="1200" b="0">
                          <a:solidFill>
                            <a:srgbClr val="171717"/>
                          </a:solidFill>
                          <a:latin typeface="Arial"/>
                          <a:ea typeface="Arial"/>
                          <a:cs typeface="Arial"/>
                        </a:rPr>
                        <a:t>Tasks, stock preview and GST preview</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Shipment history and private PDF storage</a:t>
                      </a:r>
                    </a:p>
                  </a:txBody>
                  <a:tcPr marL="91440" marR="91440" marT="45720" marB="45720">
                    <a:lnR w="5715">
                      <a:solidFill>
                        <a:srgbClr val="D5D5DF"/>
                      </a:solidFill>
                      <a:prstDash val="solid"/>
                    </a:lnR>
                    <a:lnB w="5715">
                      <a:solidFill>
                        <a:srgbClr val="D5D5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84DA16-47C6-4F39-A1A8-82B6183C63BD}"/>
              </a:ext>
            </a:extLst>
          </p:cNvPr>
          <p:cNvSpPr>
            <a:spLocks xmlns:a="http://schemas.openxmlformats.org/drawingml/2006/main" noGrp="1"/>
          </p:cNvSpPr>
          <p:nvPr/>
        </p:nvSpPr>
        <p:spPr>
          <a:xfrm xmlns:a="http://schemas.openxmlformats.org/drawingml/2006/main">
            <a:off x="342900" y="4581525"/>
            <a:ext cx="8458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65656"/>
                </a:solidFill>
                <a:latin typeface="Arial"/>
                <a:ea typeface="Arial"/>
                <a:cs typeface="Arial"/>
              </a:defRPr>
            </a:defPPr>
          </a:lstStyle>
          <a:p xmlns:a="http://schemas.openxmlformats.org/drawingml/2006/main">
            <a:pPr>
              <a:defRPr sz="1200" b="0">
                <a:solidFill>
                  <a:srgbClr val="565656"/>
                </a:solidFill>
                <a:latin typeface="Arial"/>
                <a:ea typeface="Arial"/>
                <a:cs typeface="Arial"/>
              </a:defRPr>
            </a:pPr>
            <a:r>
              <a:rPr sz="1200" b="0">
                <a:solidFill>
                  <a:srgbClr val="565656"/>
                </a:solidFill>
                <a:latin typeface="Arial"/>
                <a:ea typeface="Arial"/>
                <a:cs typeface="Arial"/>
              </a:rPr>
              <a:t>Live prototype. Stock and GST remain previews. Filing stays with the exporter or broker.</a:t>
            </a:r>
          </a:p>
        </p:txBody>
      </p:sp>
    </p:spTree>
    <p:extLst>
      <p:ext uri="{BB962C8B-B14F-4D97-AF65-F5344CB8AC3E}">
        <p14:creationId xmlns:p14="http://schemas.microsoft.com/office/powerpoint/2010/main" val="18348547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4F30A55-A9D0-4592-B6DF-ABF9A1A46BF9}"/>
              </a:ext>
            </a:extLst>
          </p:cNvPr>
          <p:cNvCxnSpPr>
            <a:stCxn xmlns:a="http://schemas.openxmlformats.org/drawingml/2006/main" id="10" idx="1"/>
            <a:endCxn xmlns:a="http://schemas.openxmlformats.org/drawingml/2006/main" id="9" idx="3"/>
          </p:cNvCxnSpPr>
          <p:nvPr/>
        </p:nvCxnSpPr>
        <p:spPr>
          <a:xfrm xmlns:a="http://schemas.openxmlformats.org/drawingml/2006/main" flipH="1">
            <a:off x="2771775" y="3857625"/>
            <a:ext cx="581025" cy="0"/>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13" name="">
            <a:extLst xmlns:a="http://schemas.openxmlformats.org/drawingml/2006/main">
              <a:ext uri="{FF2B5EF4-FFF2-40B4-BE49-F238E27FC236}">
                <a16:creationId xmlns:a16="http://schemas.microsoft.com/office/drawing/2014/main" id="{9F9E6FB1-58DB-4065-8416-95CC24335B73}"/>
              </a:ext>
            </a:extLst>
          </p:cNvPr>
          <p:cNvCxnSpPr>
            <a:stCxn xmlns:a="http://schemas.openxmlformats.org/drawingml/2006/main" id="11" idx="1"/>
            <a:endCxn xmlns:a="http://schemas.openxmlformats.org/drawingml/2006/main" id="10" idx="3"/>
          </p:cNvCxnSpPr>
          <p:nvPr/>
        </p:nvCxnSpPr>
        <p:spPr>
          <a:xfrm xmlns:a="http://schemas.openxmlformats.org/drawingml/2006/main" flipH="1">
            <a:off x="5781675" y="3857625"/>
            <a:ext cx="590550" cy="0"/>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12" name="">
            <a:extLst xmlns:a="http://schemas.openxmlformats.org/drawingml/2006/main">
              <a:ext uri="{FF2B5EF4-FFF2-40B4-BE49-F238E27FC236}">
                <a16:creationId xmlns:a16="http://schemas.microsoft.com/office/drawing/2014/main" id="{1BE04BDF-C7AE-4EDF-AF26-6416F363511C}"/>
              </a:ext>
            </a:extLst>
          </p:cNvPr>
          <p:cNvCxnSpPr>
            <a:stCxn xmlns:a="http://schemas.openxmlformats.org/drawingml/2006/main" id="6" idx="2"/>
            <a:endCxn xmlns:a="http://schemas.openxmlformats.org/drawingml/2006/main" id="11" idx="0"/>
          </p:cNvCxnSpPr>
          <p:nvPr/>
        </p:nvCxnSpPr>
        <p:spPr>
          <a:xfrm xmlns:a="http://schemas.openxmlformats.org/drawingml/2006/main">
            <a:off x="7586663" y="2667000"/>
            <a:ext cx="0" cy="809625"/>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8" name="">
            <a:extLst xmlns:a="http://schemas.openxmlformats.org/drawingml/2006/main">
              <a:ext uri="{FF2B5EF4-FFF2-40B4-BE49-F238E27FC236}">
                <a16:creationId xmlns:a16="http://schemas.microsoft.com/office/drawing/2014/main" id="{6BEE18D6-8AB6-481D-86B4-C8AB841C4A3F}"/>
              </a:ext>
            </a:extLst>
          </p:cNvPr>
          <p:cNvCxnSpPr>
            <a:stCxn xmlns:a="http://schemas.openxmlformats.org/drawingml/2006/main" id="5" idx="3"/>
            <a:endCxn xmlns:a="http://schemas.openxmlformats.org/drawingml/2006/main" id="6" idx="1"/>
          </p:cNvCxnSpPr>
          <p:nvPr/>
        </p:nvCxnSpPr>
        <p:spPr>
          <a:xfrm xmlns:a="http://schemas.openxmlformats.org/drawingml/2006/main">
            <a:off x="5781675" y="2286000"/>
            <a:ext cx="590550" cy="0"/>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7" name="">
            <a:extLst xmlns:a="http://schemas.openxmlformats.org/drawingml/2006/main">
              <a:ext uri="{FF2B5EF4-FFF2-40B4-BE49-F238E27FC236}">
                <a16:creationId xmlns:a16="http://schemas.microsoft.com/office/drawing/2014/main" id="{9807009D-1CC7-4F23-AB67-B4DEFEC153C8}"/>
              </a:ext>
            </a:extLst>
          </p:cNvPr>
          <p:cNvCxnSpPr>
            <a:stCxn xmlns:a="http://schemas.openxmlformats.org/drawingml/2006/main" id="4" idx="3"/>
            <a:endCxn xmlns:a="http://schemas.openxmlformats.org/drawingml/2006/main" id="5" idx="1"/>
          </p:cNvCxnSpPr>
          <p:nvPr/>
        </p:nvCxnSpPr>
        <p:spPr>
          <a:xfrm xmlns:a="http://schemas.openxmlformats.org/drawingml/2006/main">
            <a:off x="2771775" y="2286000"/>
            <a:ext cx="581025" cy="0"/>
          </a:xfrm>
          <a:prstGeom xmlns:a="http://schemas.openxmlformats.org/drawingml/2006/main" prst="straightConnector1">
            <a:avLst/>
          </a:prstGeom>
          <a:ln xmlns:a="http://schemas.openxmlformats.org/drawingml/2006/main" w="14288">
            <a:solidFill>
              <a:srgbClr val="4338CA"/>
            </a:solidFill>
            <a:tailEnd type="triangle" w="sm" len="sm"/>
          </a:ln>
        </p:spPr>
      </p:cxnSp>
      <p:pic>
        <p:nvPicPr>
          <p:cNvPr id="15" name="">
            <a:extLst xmlns:a="http://schemas.openxmlformats.org/drawingml/2006/main">
              <a:ext uri="{FF2B5EF4-FFF2-40B4-BE49-F238E27FC236}">
                <a16:creationId xmlns:a16="http://schemas.microsoft.com/office/drawing/2014/main" id="{EE767908-7D59-403D-8E48-40B9F6DBF7E0}"/>
              </a:ext>
            </a:extLst>
          </p:cNvPr>
          <p:cNvPicPr>
            <a:picLocks xmlns:a="http://schemas.openxmlformats.org/drawingml/2006/main" noChangeAspect="1"/>
          </p:cNvPicPr>
          <p:nvPr/>
        </p:nvPicPr>
        <p:blipFill>
          <a:blip xmlns:r="http://schemas.openxmlformats.org/officeDocument/2006/relationships" xmlns:a="http://schemas.openxmlformats.org/drawingml/2006/main" r:embed="R2e1e5ebc276c4f68"/>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132D66-A5EE-4A33-97DB-B00D5E24D805}"/>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Process flow diagram or Use-case diagram</a:t>
            </a:r>
          </a:p>
        </p:txBody>
      </p:sp>
      <p:sp>
        <p:nvSpPr>
          <p:cNvPr id="3" name="">
            <a:extLst xmlns:a="http://schemas.openxmlformats.org/drawingml/2006/main">
              <a:ext uri="{FF2B5EF4-FFF2-40B4-BE49-F238E27FC236}">
                <a16:creationId xmlns:a16="http://schemas.microsoft.com/office/drawing/2014/main" id="{20F8DD19-08EF-4641-BF0D-3958BA698188}"/>
              </a:ext>
            </a:extLst>
          </p:cNvPr>
          <p:cNvSpPr>
            <a:spLocks xmlns:a="http://schemas.openxmlformats.org/drawingml/2006/main" noGrp="1"/>
          </p:cNvSpPr>
          <p:nvPr/>
        </p:nvSpPr>
        <p:spPr>
          <a:xfrm xmlns:a="http://schemas.openxmlformats.org/drawingml/2006/main">
            <a:off x="342900" y="1362075"/>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171717"/>
                </a:solidFill>
                <a:latin typeface="Arial"/>
                <a:ea typeface="Arial"/>
                <a:cs typeface="Arial"/>
              </a:defRPr>
            </a:defPPr>
          </a:lstStyle>
          <a:p xmlns:a="http://schemas.openxmlformats.org/drawingml/2006/main">
            <a:pPr>
              <a:defRPr sz="1650" b="1">
                <a:solidFill>
                  <a:srgbClr val="171717"/>
                </a:solidFill>
                <a:latin typeface="Arial"/>
                <a:ea typeface="Arial"/>
                <a:cs typeface="Arial"/>
              </a:defRPr>
            </a:pPr>
            <a:r>
              <a:rPr sz="1650" b="1">
                <a:solidFill>
                  <a:srgbClr val="171717"/>
                </a:solidFill>
                <a:latin typeface="Arial"/>
                <a:ea typeface="Arial"/>
                <a:cs typeface="Arial"/>
              </a:rPr>
              <a:t>Export invoice review</a:t>
            </a:r>
          </a:p>
        </p:txBody>
      </p:sp>
      <p:sp>
        <p:nvSpPr>
          <p:cNvPr id="4" name="">
            <a:extLst xmlns:a="http://schemas.openxmlformats.org/drawingml/2006/main">
              <a:ext uri="{FF2B5EF4-FFF2-40B4-BE49-F238E27FC236}">
                <a16:creationId xmlns:a16="http://schemas.microsoft.com/office/drawing/2014/main" id="{4CECB80C-6099-47F2-A55E-A09517198220}"/>
              </a:ext>
            </a:extLst>
          </p:cNvPr>
          <p:cNvSpPr>
            <a:spLocks xmlns:a="http://schemas.openxmlformats.org/drawingml/2006/main" noGrp="1"/>
          </p:cNvSpPr>
          <p:nvPr/>
        </p:nvSpPr>
        <p:spPr>
          <a:xfrm xmlns:a="http://schemas.openxmlformats.org/drawingml/2006/main">
            <a:off x="342900" y="1905000"/>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Upload invoice</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PDF, image or sample JSON</a:t>
            </a:r>
          </a:p>
        </p:txBody>
      </p:sp>
      <p:sp>
        <p:nvSpPr>
          <p:cNvPr id="5" name="">
            <a:extLst xmlns:a="http://schemas.openxmlformats.org/drawingml/2006/main">
              <a:ext uri="{FF2B5EF4-FFF2-40B4-BE49-F238E27FC236}">
                <a16:creationId xmlns:a16="http://schemas.microsoft.com/office/drawing/2014/main" id="{9412FFD6-AAFC-44D1-B447-CDF58CA99B93}"/>
              </a:ext>
            </a:extLst>
          </p:cNvPr>
          <p:cNvSpPr>
            <a:spLocks xmlns:a="http://schemas.openxmlformats.org/drawingml/2006/main" noGrp="1"/>
          </p:cNvSpPr>
          <p:nvPr/>
        </p:nvSpPr>
        <p:spPr>
          <a:xfrm xmlns:a="http://schemas.openxmlformats.org/drawingml/2006/main">
            <a:off x="3352800" y="1905000"/>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Extract fields</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Review and correct details</a:t>
            </a:r>
          </a:p>
        </p:txBody>
      </p:sp>
      <p:sp>
        <p:nvSpPr>
          <p:cNvPr id="6" name="">
            <a:extLst xmlns:a="http://schemas.openxmlformats.org/drawingml/2006/main">
              <a:ext uri="{FF2B5EF4-FFF2-40B4-BE49-F238E27FC236}">
                <a16:creationId xmlns:a16="http://schemas.microsoft.com/office/drawing/2014/main" id="{7AFE2B09-E038-40D8-9394-711B2E43E8CB}"/>
              </a:ext>
            </a:extLst>
          </p:cNvPr>
          <p:cNvSpPr>
            <a:spLocks xmlns:a="http://schemas.openxmlformats.org/drawingml/2006/main" noGrp="1"/>
          </p:cNvSpPr>
          <p:nvPr/>
        </p:nvSpPr>
        <p:spPr>
          <a:xfrm xmlns:a="http://schemas.openxmlformats.org/drawingml/2006/main">
            <a:off x="6372225" y="1905000"/>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Check compliance</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Rules plus retrieved context</a:t>
            </a:r>
          </a:p>
        </p:txBody>
      </p:sp>
      <p:sp>
        <p:nvSpPr>
          <p:cNvPr id="9" name="">
            <a:extLst xmlns:a="http://schemas.openxmlformats.org/drawingml/2006/main">
              <a:ext uri="{FF2B5EF4-FFF2-40B4-BE49-F238E27FC236}">
                <a16:creationId xmlns:a16="http://schemas.microsoft.com/office/drawing/2014/main" id="{8CE5B282-F0D9-4E54-B531-933918C661F2}"/>
              </a:ext>
            </a:extLst>
          </p:cNvPr>
          <p:cNvSpPr>
            <a:spLocks xmlns:a="http://schemas.openxmlformats.org/drawingml/2006/main" noGrp="1"/>
          </p:cNvSpPr>
          <p:nvPr/>
        </p:nvSpPr>
        <p:spPr>
          <a:xfrm xmlns:a="http://schemas.openxmlformats.org/drawingml/2006/main">
            <a:off x="342900" y="3476625"/>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Download draft documents</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Human review before filing</a:t>
            </a:r>
          </a:p>
        </p:txBody>
      </p:sp>
      <p:sp>
        <p:nvSpPr>
          <p:cNvPr id="10" name="">
            <a:extLst xmlns:a="http://schemas.openxmlformats.org/drawingml/2006/main">
              <a:ext uri="{FF2B5EF4-FFF2-40B4-BE49-F238E27FC236}">
                <a16:creationId xmlns:a16="http://schemas.microsoft.com/office/drawing/2014/main" id="{A41DE6F7-1D4A-4791-B2E0-CD626A2106D9}"/>
              </a:ext>
            </a:extLst>
          </p:cNvPr>
          <p:cNvSpPr>
            <a:spLocks xmlns:a="http://schemas.openxmlformats.org/drawingml/2006/main" noGrp="1"/>
          </p:cNvSpPr>
          <p:nvPr/>
        </p:nvSpPr>
        <p:spPr>
          <a:xfrm xmlns:a="http://schemas.openxmlformats.org/drawingml/2006/main">
            <a:off x="3352800" y="3476625"/>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Generate documents</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Shipping Bill and CoO</a:t>
            </a:r>
          </a:p>
        </p:txBody>
      </p:sp>
      <p:sp>
        <p:nvSpPr>
          <p:cNvPr id="11" name="">
            <a:extLst xmlns:a="http://schemas.openxmlformats.org/drawingml/2006/main">
              <a:ext uri="{FF2B5EF4-FFF2-40B4-BE49-F238E27FC236}">
                <a16:creationId xmlns:a16="http://schemas.microsoft.com/office/drawing/2014/main" id="{8AAC440F-2B6F-47A3-837C-C7161E05D774}"/>
              </a:ext>
            </a:extLst>
          </p:cNvPr>
          <p:cNvSpPr>
            <a:spLocks xmlns:a="http://schemas.openxmlformats.org/drawingml/2006/main" noGrp="1"/>
          </p:cNvSpPr>
          <p:nvPr/>
        </p:nvSpPr>
        <p:spPr>
          <a:xfrm xmlns:a="http://schemas.openxmlformats.org/drawingml/2006/main">
            <a:off x="6372225" y="3476625"/>
            <a:ext cx="2428875" cy="76200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Review risk and eligibility</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Evidence and next steps</a:t>
            </a:r>
          </a:p>
        </p:txBody>
      </p:sp>
    </p:spTree>
    <p:extLst>
      <p:ext uri="{BB962C8B-B14F-4D97-AF65-F5344CB8AC3E}">
        <p14:creationId xmlns:p14="http://schemas.microsoft.com/office/powerpoint/2010/main" val="5310146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995750A-5E64-4656-8F9E-EEFE25963D30}"/>
              </a:ext>
            </a:extLst>
          </p:cNvPr>
          <p:cNvPicPr>
            <a:picLocks xmlns:a="http://schemas.openxmlformats.org/drawingml/2006/main" noChangeAspect="1"/>
          </p:cNvPicPr>
          <p:nvPr/>
        </p:nvPicPr>
        <p:blipFill>
          <a:blip xmlns:r="http://schemas.openxmlformats.org/officeDocument/2006/relationships" xmlns:a="http://schemas.openxmlformats.org/drawingml/2006/main" r:embed="Raa416df108cc449a"/>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BA7912-58A4-49ED-B863-A2D6D2DC5107}"/>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Wireframes/Mock diagrams of the proposed solution (optional)</a:t>
            </a:r>
          </a:p>
        </p:txBody>
      </p:sp>
      <p:pic>
        <p:nvPicPr>
          <p:cNvPr id="3" name="">
            <a:extLst xmlns:a="http://schemas.openxmlformats.org/drawingml/2006/main">
              <a:ext uri="{FF2B5EF4-FFF2-40B4-BE49-F238E27FC236}">
                <a16:creationId xmlns:a16="http://schemas.microsoft.com/office/drawing/2014/main" id="{1285670D-9950-4300-BBC4-61CF48EBD975}"/>
              </a:ext>
            </a:extLst>
          </p:cNvPr>
          <p:cNvPicPr>
            <a:picLocks xmlns:a="http://schemas.openxmlformats.org/drawingml/2006/main" noChangeAspect="1"/>
          </p:cNvPicPr>
          <p:nvPr/>
        </p:nvPicPr>
        <p:blipFill>
          <a:blip xmlns:r="http://schemas.openxmlformats.org/officeDocument/2006/relationships" xmlns:a="http://schemas.openxmlformats.org/drawingml/2006/main" r:embed="R1d09fa86a5ec4033"/>
          <a:stretch xmlns:a="http://schemas.openxmlformats.org/drawingml/2006/main"/>
        </p:blipFill>
        <p:spPr>
          <a:xfrm xmlns:a="http://schemas.openxmlformats.org/drawingml/2006/main">
            <a:off x="342900" y="1440061"/>
            <a:ext cx="6191250" cy="34825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8243AE-662E-4257-A19F-AEAC3B6B1DA7}"/>
              </a:ext>
            </a:extLst>
          </p:cNvPr>
          <p:cNvSpPr>
            <a:spLocks xmlns:a="http://schemas.openxmlformats.org/drawingml/2006/main" noGrp="1"/>
          </p:cNvSpPr>
          <p:nvPr/>
        </p:nvSpPr>
        <p:spPr>
          <a:xfrm xmlns:a="http://schemas.openxmlformats.org/drawingml/2006/main">
            <a:off x="6791325" y="1514475"/>
            <a:ext cx="2009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Implemented workspace</a:t>
            </a:r>
          </a:p>
        </p:txBody>
      </p:sp>
      <p:sp>
        <p:nvSpPr>
          <p:cNvPr id="5" name="">
            <a:extLst xmlns:a="http://schemas.openxmlformats.org/drawingml/2006/main">
              <a:ext uri="{FF2B5EF4-FFF2-40B4-BE49-F238E27FC236}">
                <a16:creationId xmlns:a16="http://schemas.microsoft.com/office/drawing/2014/main" id="{6486FA24-18D9-4EAE-BE0E-9A82AC3D5016}"/>
              </a:ext>
            </a:extLst>
          </p:cNvPr>
          <p:cNvSpPr>
            <a:spLocks xmlns:a="http://schemas.openxmlformats.org/drawingml/2006/main" noGrp="1"/>
          </p:cNvSpPr>
          <p:nvPr/>
        </p:nvSpPr>
        <p:spPr>
          <a:xfrm xmlns:a="http://schemas.openxmlformats.org/drawingml/2006/main">
            <a:off x="6791325" y="2190750"/>
            <a:ext cx="20097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Conversation on the left</a:t>
            </a:r>
          </a:p>
          <a:p xmlns:a="http://schemas.openxmlformats.org/drawingml/2006/main">
            <a:r>
              <a:t/>
            </a:r>
          </a:p>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Records open alongside the answer</a:t>
            </a:r>
          </a:p>
          <a:p xmlns:a="http://schemas.openxmlformats.org/drawingml/2006/main">
            <a:r>
              <a:t/>
            </a:r>
          </a:p>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Source links connect claims to evidence</a:t>
            </a:r>
          </a:p>
        </p:txBody>
      </p:sp>
    </p:spTree>
    <p:extLst>
      <p:ext uri="{BB962C8B-B14F-4D97-AF65-F5344CB8AC3E}">
        <p14:creationId xmlns:p14="http://schemas.microsoft.com/office/powerpoint/2010/main" val="2623595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D931E58-DB7A-4F40-A357-B2D27BEA0D2B}"/>
              </a:ext>
            </a:extLst>
          </p:cNvPr>
          <p:cNvCxnSpPr>
            <a:stCxn xmlns:a="http://schemas.openxmlformats.org/drawingml/2006/main" id="4" idx="3"/>
            <a:endCxn xmlns:a="http://schemas.openxmlformats.org/drawingml/2006/main" id="11" idx="0"/>
          </p:cNvCxnSpPr>
          <p:nvPr/>
        </p:nvCxnSpPr>
        <p:spPr>
          <a:xfrm xmlns:a="http://schemas.openxmlformats.org/drawingml/2006/main">
            <a:off x="5638800" y="1771650"/>
            <a:ext cx="2009775" cy="2238375"/>
          </a:xfrm>
          <a:prstGeom xmlns:a="http://schemas.openxmlformats.org/drawingml/2006/main" prst="bentConnector4">
            <a:avLst>
              <a:gd name="adj1" fmla="val 11374"/>
              <a:gd name="adj2" fmla="val 89787"/>
            </a:avLst>
          </a:prstGeom>
          <a:ln xmlns:a="http://schemas.openxmlformats.org/drawingml/2006/main" w="14288">
            <a:solidFill>
              <a:srgbClr val="4338CA"/>
            </a:solidFill>
            <a:tailEnd type="triangle" w="sm" len="sm"/>
          </a:ln>
        </p:spPr>
      </p:cxnSp>
      <p:cxnSp>
        <p:nvCxnSpPr>
          <p:cNvPr id="14" name="">
            <a:extLst xmlns:a="http://schemas.openxmlformats.org/drawingml/2006/main">
              <a:ext uri="{FF2B5EF4-FFF2-40B4-BE49-F238E27FC236}">
                <a16:creationId xmlns:a16="http://schemas.microsoft.com/office/drawing/2014/main" id="{189CEAD3-00D2-48EF-BCB8-43F0A505953A}"/>
              </a:ext>
            </a:extLst>
          </p:cNvPr>
          <p:cNvCxnSpPr>
            <a:stCxn xmlns:a="http://schemas.openxmlformats.org/drawingml/2006/main" id="8" idx="2"/>
            <a:endCxn xmlns:a="http://schemas.openxmlformats.org/drawingml/2006/main" id="10" idx="0"/>
          </p:cNvCxnSpPr>
          <p:nvPr/>
        </p:nvCxnSpPr>
        <p:spPr>
          <a:xfrm xmlns:a="http://schemas.openxmlformats.org/drawingml/2006/main">
            <a:off x="4572000" y="3352800"/>
            <a:ext cx="0" cy="657225"/>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13" name="">
            <a:extLst xmlns:a="http://schemas.openxmlformats.org/drawingml/2006/main">
              <a:ext uri="{FF2B5EF4-FFF2-40B4-BE49-F238E27FC236}">
                <a16:creationId xmlns:a16="http://schemas.microsoft.com/office/drawing/2014/main" id="{CDB08127-3CB4-4B2A-A254-047D2EE94589}"/>
              </a:ext>
            </a:extLst>
          </p:cNvPr>
          <p:cNvCxnSpPr>
            <a:stCxn xmlns:a="http://schemas.openxmlformats.org/drawingml/2006/main" id="8" idx="1"/>
            <a:endCxn xmlns:a="http://schemas.openxmlformats.org/drawingml/2006/main" id="9" idx="0"/>
          </p:cNvCxnSpPr>
          <p:nvPr/>
        </p:nvCxnSpPr>
        <p:spPr>
          <a:xfrm xmlns:a="http://schemas.openxmlformats.org/drawingml/2006/main" flipH="1">
            <a:off x="1495425" y="3038475"/>
            <a:ext cx="2009775" cy="971550"/>
          </a:xfrm>
          <a:prstGeom xmlns:a="http://schemas.openxmlformats.org/drawingml/2006/main" prst="bentConnector4">
            <a:avLst>
              <a:gd name="adj1" fmla="val 11374"/>
              <a:gd name="adj2" fmla="val 76471"/>
            </a:avLst>
          </a:prstGeom>
          <a:ln xmlns:a="http://schemas.openxmlformats.org/drawingml/2006/main" w="14288">
            <a:solidFill>
              <a:srgbClr val="4338CA"/>
            </a:solidFill>
            <a:tailEnd type="triangle" w="sm" len="sm"/>
          </a:ln>
        </p:spPr>
      </p:cxnSp>
      <p:cxnSp>
        <p:nvCxnSpPr>
          <p:cNvPr id="12" name="">
            <a:extLst xmlns:a="http://schemas.openxmlformats.org/drawingml/2006/main">
              <a:ext uri="{FF2B5EF4-FFF2-40B4-BE49-F238E27FC236}">
                <a16:creationId xmlns:a16="http://schemas.microsoft.com/office/drawing/2014/main" id="{9BC492A1-2225-4E57-A884-578D912D795E}"/>
              </a:ext>
            </a:extLst>
          </p:cNvPr>
          <p:cNvCxnSpPr>
            <a:stCxn xmlns:a="http://schemas.openxmlformats.org/drawingml/2006/main" id="4" idx="2"/>
            <a:endCxn xmlns:a="http://schemas.openxmlformats.org/drawingml/2006/main" id="8" idx="0"/>
          </p:cNvCxnSpPr>
          <p:nvPr/>
        </p:nvCxnSpPr>
        <p:spPr>
          <a:xfrm xmlns:a="http://schemas.openxmlformats.org/drawingml/2006/main">
            <a:off x="4572000" y="2085975"/>
            <a:ext cx="0" cy="638175"/>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7" name="">
            <a:extLst xmlns:a="http://schemas.openxmlformats.org/drawingml/2006/main">
              <a:ext uri="{FF2B5EF4-FFF2-40B4-BE49-F238E27FC236}">
                <a16:creationId xmlns:a16="http://schemas.microsoft.com/office/drawing/2014/main" id="{6C8DF7BD-819F-44BA-9B9F-8214B4FE8FE1}"/>
              </a:ext>
            </a:extLst>
          </p:cNvPr>
          <p:cNvCxnSpPr>
            <a:stCxn xmlns:a="http://schemas.openxmlformats.org/drawingml/2006/main" id="4" idx="3"/>
            <a:endCxn xmlns:a="http://schemas.openxmlformats.org/drawingml/2006/main" id="5" idx="1"/>
          </p:cNvCxnSpPr>
          <p:nvPr/>
        </p:nvCxnSpPr>
        <p:spPr>
          <a:xfrm xmlns:a="http://schemas.openxmlformats.org/drawingml/2006/main">
            <a:off x="5638800" y="1771650"/>
            <a:ext cx="1162050" cy="0"/>
          </a:xfrm>
          <a:prstGeom xmlns:a="http://schemas.openxmlformats.org/drawingml/2006/main" prst="straightConnector1">
            <a:avLst/>
          </a:prstGeom>
          <a:ln xmlns:a="http://schemas.openxmlformats.org/drawingml/2006/main" w="14288">
            <a:solidFill>
              <a:srgbClr val="4338CA"/>
            </a:solidFill>
            <a:tailEnd type="triangle" w="sm" len="sm"/>
          </a:ln>
        </p:spPr>
      </p:cxnSp>
      <p:cxnSp>
        <p:nvCxnSpPr>
          <p:cNvPr id="6" name="">
            <a:extLst xmlns:a="http://schemas.openxmlformats.org/drawingml/2006/main">
              <a:ext uri="{FF2B5EF4-FFF2-40B4-BE49-F238E27FC236}">
                <a16:creationId xmlns:a16="http://schemas.microsoft.com/office/drawing/2014/main" id="{8AA23D7A-8B3A-4796-9CDF-08B02900BA12}"/>
              </a:ext>
            </a:extLst>
          </p:cNvPr>
          <p:cNvCxnSpPr>
            <a:stCxn xmlns:a="http://schemas.openxmlformats.org/drawingml/2006/main" id="3" idx="3"/>
            <a:endCxn xmlns:a="http://schemas.openxmlformats.org/drawingml/2006/main" id="4" idx="1"/>
          </p:cNvCxnSpPr>
          <p:nvPr/>
        </p:nvCxnSpPr>
        <p:spPr>
          <a:xfrm xmlns:a="http://schemas.openxmlformats.org/drawingml/2006/main">
            <a:off x="2343150" y="1771650"/>
            <a:ext cx="1162050" cy="0"/>
          </a:xfrm>
          <a:prstGeom xmlns:a="http://schemas.openxmlformats.org/drawingml/2006/main" prst="straightConnector1">
            <a:avLst/>
          </a:prstGeom>
          <a:ln xmlns:a="http://schemas.openxmlformats.org/drawingml/2006/main" w="14288">
            <a:solidFill>
              <a:srgbClr val="4338CA"/>
            </a:solidFill>
            <a:tailEnd type="triangle" w="sm" len="sm"/>
          </a:ln>
        </p:spPr>
      </p:cxnSp>
      <p:pic>
        <p:nvPicPr>
          <p:cNvPr id="17" name="">
            <a:extLst xmlns:a="http://schemas.openxmlformats.org/drawingml/2006/main">
              <a:ext uri="{FF2B5EF4-FFF2-40B4-BE49-F238E27FC236}">
                <a16:creationId xmlns:a16="http://schemas.microsoft.com/office/drawing/2014/main" id="{63E88B87-15A3-4F9A-92DE-0372AF69EB73}"/>
              </a:ext>
            </a:extLst>
          </p:cNvPr>
          <p:cNvPicPr>
            <a:picLocks xmlns:a="http://schemas.openxmlformats.org/drawingml/2006/main" noChangeAspect="1"/>
          </p:cNvPicPr>
          <p:nvPr/>
        </p:nvPicPr>
        <p:blipFill>
          <a:blip xmlns:r="http://schemas.openxmlformats.org/officeDocument/2006/relationships" xmlns:a="http://schemas.openxmlformats.org/drawingml/2006/main" r:embed="R759308fcc3a44936"/>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E45A85-9808-4F77-9AD1-D21872F25A44}"/>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Architecture diagram of the proposed solution</a:t>
            </a:r>
          </a:p>
        </p:txBody>
      </p:sp>
      <p:sp>
        <p:nvSpPr>
          <p:cNvPr id="3" name="">
            <a:extLst xmlns:a="http://schemas.openxmlformats.org/drawingml/2006/main">
              <a:ext uri="{FF2B5EF4-FFF2-40B4-BE49-F238E27FC236}">
                <a16:creationId xmlns:a16="http://schemas.microsoft.com/office/drawing/2014/main" id="{9EFF42C6-0F9E-492C-A470-B42FEAE544A1}"/>
              </a:ext>
            </a:extLst>
          </p:cNvPr>
          <p:cNvSpPr>
            <a:spLocks xmlns:a="http://schemas.openxmlformats.org/drawingml/2006/main" noGrp="1"/>
          </p:cNvSpPr>
          <p:nvPr/>
        </p:nvSpPr>
        <p:spPr>
          <a:xfrm xmlns:a="http://schemas.openxmlformats.org/drawingml/2006/main">
            <a:off x="342900" y="1457325"/>
            <a:ext cx="200025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Next.js web app</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Cloud Run</a:t>
            </a:r>
          </a:p>
        </p:txBody>
      </p:sp>
      <p:sp>
        <p:nvSpPr>
          <p:cNvPr id="4" name="">
            <a:extLst xmlns:a="http://schemas.openxmlformats.org/drawingml/2006/main">
              <a:ext uri="{FF2B5EF4-FFF2-40B4-BE49-F238E27FC236}">
                <a16:creationId xmlns:a16="http://schemas.microsoft.com/office/drawing/2014/main" id="{E64082C5-CB36-4A33-A114-68533F4147BD}"/>
              </a:ext>
            </a:extLst>
          </p:cNvPr>
          <p:cNvSpPr>
            <a:spLocks xmlns:a="http://schemas.openxmlformats.org/drawingml/2006/main" noGrp="1"/>
          </p:cNvSpPr>
          <p:nvPr/>
        </p:nvSpPr>
        <p:spPr>
          <a:xfrm xmlns:a="http://schemas.openxmlformats.org/drawingml/2006/main">
            <a:off x="3505200" y="1457325"/>
            <a:ext cx="213360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FastAPI service</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Cloud Run</a:t>
            </a:r>
          </a:p>
        </p:txBody>
      </p:sp>
      <p:sp>
        <p:nvSpPr>
          <p:cNvPr id="5" name="">
            <a:extLst xmlns:a="http://schemas.openxmlformats.org/drawingml/2006/main">
              <a:ext uri="{FF2B5EF4-FFF2-40B4-BE49-F238E27FC236}">
                <a16:creationId xmlns:a16="http://schemas.microsoft.com/office/drawing/2014/main" id="{03F8CA9A-466F-462C-96BD-F7D37F1882E1}"/>
              </a:ext>
            </a:extLst>
          </p:cNvPr>
          <p:cNvSpPr>
            <a:spLocks xmlns:a="http://schemas.openxmlformats.org/drawingml/2006/main" noGrp="1"/>
          </p:cNvSpPr>
          <p:nvPr/>
        </p:nvSpPr>
        <p:spPr>
          <a:xfrm xmlns:a="http://schemas.openxmlformats.org/drawingml/2006/main">
            <a:off x="6800850" y="1457325"/>
            <a:ext cx="200025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Gemini 2.5 Flash</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Vertex AI</a:t>
            </a:r>
          </a:p>
        </p:txBody>
      </p:sp>
      <p:sp>
        <p:nvSpPr>
          <p:cNvPr id="8" name="">
            <a:extLst xmlns:a="http://schemas.openxmlformats.org/drawingml/2006/main">
              <a:ext uri="{FF2B5EF4-FFF2-40B4-BE49-F238E27FC236}">
                <a16:creationId xmlns:a16="http://schemas.microsoft.com/office/drawing/2014/main" id="{B2CFFD49-5F4D-4EFB-8878-7FECE778AD06}"/>
              </a:ext>
            </a:extLst>
          </p:cNvPr>
          <p:cNvSpPr>
            <a:spLocks xmlns:a="http://schemas.openxmlformats.org/drawingml/2006/main" noGrp="1"/>
          </p:cNvSpPr>
          <p:nvPr/>
        </p:nvSpPr>
        <p:spPr>
          <a:xfrm xmlns:a="http://schemas.openxmlformats.org/drawingml/2006/main">
            <a:off x="3505200" y="2724150"/>
            <a:ext cx="213360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Business rules</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SQLAlchemy projection</a:t>
            </a:r>
          </a:p>
        </p:txBody>
      </p:sp>
      <p:sp>
        <p:nvSpPr>
          <p:cNvPr id="9" name="">
            <a:extLst xmlns:a="http://schemas.openxmlformats.org/drawingml/2006/main">
              <a:ext uri="{FF2B5EF4-FFF2-40B4-BE49-F238E27FC236}">
                <a16:creationId xmlns:a16="http://schemas.microsoft.com/office/drawing/2014/main" id="{A777A26C-209E-41AE-8240-63A21532074F}"/>
              </a:ext>
            </a:extLst>
          </p:cNvPr>
          <p:cNvSpPr>
            <a:spLocks xmlns:a="http://schemas.openxmlformats.org/drawingml/2006/main" noGrp="1"/>
          </p:cNvSpPr>
          <p:nvPr/>
        </p:nvSpPr>
        <p:spPr>
          <a:xfrm xmlns:a="http://schemas.openxmlformats.org/drawingml/2006/main">
            <a:off x="342900" y="4010025"/>
            <a:ext cx="230505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Firestore</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Versioned demo records</a:t>
            </a:r>
          </a:p>
        </p:txBody>
      </p:sp>
      <p:sp>
        <p:nvSpPr>
          <p:cNvPr id="10" name="">
            <a:extLst xmlns:a="http://schemas.openxmlformats.org/drawingml/2006/main">
              <a:ext uri="{FF2B5EF4-FFF2-40B4-BE49-F238E27FC236}">
                <a16:creationId xmlns:a16="http://schemas.microsoft.com/office/drawing/2014/main" id="{D7CE9E21-C716-4E19-B50D-2BA123DE52C4}"/>
              </a:ext>
            </a:extLst>
          </p:cNvPr>
          <p:cNvSpPr>
            <a:spLocks xmlns:a="http://schemas.openxmlformats.org/drawingml/2006/main" noGrp="1"/>
          </p:cNvSpPr>
          <p:nvPr/>
        </p:nvSpPr>
        <p:spPr>
          <a:xfrm xmlns:a="http://schemas.openxmlformats.org/drawingml/2006/main">
            <a:off x="3371850" y="4010025"/>
            <a:ext cx="240030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Private Cloud Storage</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Profile, uploads and PDFs</a:t>
            </a:r>
          </a:p>
        </p:txBody>
      </p:sp>
      <p:sp>
        <p:nvSpPr>
          <p:cNvPr id="11" name="">
            <a:extLst xmlns:a="http://schemas.openxmlformats.org/drawingml/2006/main">
              <a:ext uri="{FF2B5EF4-FFF2-40B4-BE49-F238E27FC236}">
                <a16:creationId xmlns:a16="http://schemas.microsoft.com/office/drawing/2014/main" id="{5C547333-441B-4249-BE6E-5F690A39D0A8}"/>
              </a:ext>
            </a:extLst>
          </p:cNvPr>
          <p:cNvSpPr>
            <a:spLocks xmlns:a="http://schemas.openxmlformats.org/drawingml/2006/main" noGrp="1"/>
          </p:cNvSpPr>
          <p:nvPr/>
        </p:nvSpPr>
        <p:spPr>
          <a:xfrm xmlns:a="http://schemas.openxmlformats.org/drawingml/2006/main">
            <a:off x="6496050" y="4010025"/>
            <a:ext cx="2305050" cy="628650"/>
          </a:xfrm>
          <a:prstGeom xmlns:a="http://schemas.openxmlformats.org/drawingml/2006/main" prst="rect">
            <a:avLst/>
          </a:prstGeom>
          <a:solidFill xmlns:a="http://schemas.openxmlformats.org/drawingml/2006/main">
            <a:srgbClr val="F4F3FF"/>
          </a:solidFill>
          <a:ln xmlns:a="http://schemas.openxmlformats.org/drawingml/2006/main" w="11430">
            <a:solidFill>
              <a:srgbClr val="4338CA"/>
            </a:solidFill>
          </a:ln>
        </p:spPr>
        <p:txBody>
          <a:bodyPr xmlns:a="http://schemas.openxmlformats.org/drawingml/2006/main" lIns="76200" tIns="76200" rIns="76200" bIns="76200" anchor="ctr"/>
          <a:lstStyle xmlns:a="http://schemas.openxmlformats.org/drawingml/2006/main">
            <a:defPPr algn="ctr">
              <a:defRPr sz="1275">
                <a:solidFill>
                  <a:srgbClr val="171717"/>
                </a:solidFill>
                <a:latin typeface="Arial"/>
                <a:ea typeface="Arial"/>
                <a:cs typeface="Arial"/>
              </a:defRPr>
            </a:defPPr>
          </a:lstStyle>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Document AI + Search</a:t>
            </a:r>
          </a:p>
          <a:p xmlns:a="http://schemas.openxmlformats.org/drawingml/2006/main">
            <a:pPr algn="ctr">
              <a:defRPr sz="1275">
                <a:solidFill>
                  <a:srgbClr val="171717"/>
                </a:solidFill>
                <a:latin typeface="Arial"/>
                <a:ea typeface="Arial"/>
                <a:cs typeface="Arial"/>
              </a:defRPr>
            </a:pPr>
            <a:r>
              <a:rPr sz="1275">
                <a:solidFill>
                  <a:srgbClr val="171717"/>
                </a:solidFill>
                <a:latin typeface="Arial"/>
                <a:ea typeface="Arial"/>
                <a:cs typeface="Arial"/>
              </a:rPr>
              <a:t>Extraction and policy context</a:t>
            </a:r>
          </a:p>
        </p:txBody>
      </p:sp>
      <p:sp>
        <p:nvSpPr>
          <p:cNvPr id="16" name="">
            <a:extLst xmlns:a="http://schemas.openxmlformats.org/drawingml/2006/main">
              <a:ext uri="{FF2B5EF4-FFF2-40B4-BE49-F238E27FC236}">
                <a16:creationId xmlns:a16="http://schemas.microsoft.com/office/drawing/2014/main" id="{60C8676A-7028-49C1-A390-F8322BD7B1A8}"/>
              </a:ext>
            </a:extLst>
          </p:cNvPr>
          <p:cNvSpPr>
            <a:spLocks xmlns:a="http://schemas.openxmlformats.org/drawingml/2006/main" noGrp="1"/>
          </p:cNvSpPr>
          <p:nvPr/>
        </p:nvSpPr>
        <p:spPr>
          <a:xfrm xmlns:a="http://schemas.openxmlformats.org/drawingml/2006/main">
            <a:off x="342900" y="238125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65656"/>
                </a:solidFill>
                <a:latin typeface="Arial"/>
                <a:ea typeface="Arial"/>
                <a:cs typeface="Arial"/>
              </a:defRPr>
            </a:defPPr>
          </a:lstStyle>
          <a:p xmlns:a="http://schemas.openxmlformats.org/drawingml/2006/main">
            <a:pPr>
              <a:defRPr sz="1350" b="0">
                <a:solidFill>
                  <a:srgbClr val="565656"/>
                </a:solidFill>
                <a:latin typeface="Arial"/>
                <a:ea typeface="Arial"/>
                <a:cs typeface="Arial"/>
              </a:defRPr>
            </a:pPr>
            <a:r>
              <a:rPr sz="1350" b="0">
                <a:solidFill>
                  <a:srgbClr val="565656"/>
                </a:solidFill>
                <a:latin typeface="Arial"/>
                <a:ea typeface="Arial"/>
                <a:cs typeface="Arial"/>
              </a:rPr>
              <a:t>Durable state lives outside the Cloud Run filesystem</a:t>
            </a:r>
          </a:p>
        </p:txBody>
      </p:sp>
    </p:spTree>
    <p:extLst>
      <p:ext uri="{BB962C8B-B14F-4D97-AF65-F5344CB8AC3E}">
        <p14:creationId xmlns:p14="http://schemas.microsoft.com/office/powerpoint/2010/main" val="9722443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2B257221-0619-49E1-BA6B-5EBE4B8312CA}"/>
              </a:ext>
            </a:extLst>
          </p:cNvPr>
          <p:cNvPicPr>
            <a:picLocks xmlns:a="http://schemas.openxmlformats.org/drawingml/2006/main" noChangeAspect="1"/>
          </p:cNvPicPr>
          <p:nvPr/>
        </p:nvPicPr>
        <p:blipFill>
          <a:blip xmlns:r="http://schemas.openxmlformats.org/officeDocument/2006/relationships" xmlns:a="http://schemas.openxmlformats.org/drawingml/2006/main" r:embed="Rf7bcda616b01464a"/>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9F21AB-084D-4D33-A0E0-69C24FDBBB65}"/>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Technologies to be used in the solution</a:t>
            </a:r>
          </a:p>
        </p:txBody>
      </p:sp>
      <p:graphicFrame>
        <p:nvGraphicFramePr>
          <p:cNvPr id="3" name="">
            <a:extLst xmlns:a="http://schemas.openxmlformats.org/drawingml/2006/main">
              <a:ext uri="{FF2B5EF4-FFF2-40B4-BE49-F238E27FC236}">
                <a16:creationId xmlns:a16="http://schemas.microsoft.com/office/drawing/2014/main" id="{C58976BB-E72A-4FB1-9F17-AD305FF64739}"/>
              </a:ext>
            </a:extLst>
          </p:cNvPr>
          <p:cNvGraphicFramePr/>
          <p:nvPr/>
        </p:nvGraphicFramePr>
        <p:xfrm>
          <a:off xmlns:a="http://schemas.openxmlformats.org/drawingml/2006/main" x="342900" y="1419225"/>
          <a:ext xmlns:a="http://schemas.openxmlformats.org/drawingml/2006/main" cx="8458200" cy="3238500"/>
        </p:xfrm>
        <a:graphic xmlns:a="http://schemas.openxmlformats.org/drawingml/2006/main">
          <a:graphicData uri="http://schemas.openxmlformats.org/drawingml/2006/table">
            <a:tbl>
              <a:tblPr/>
              <a:tblGrid>
                <a:gridCol w="1809750"/>
                <a:gridCol w="3238500"/>
                <a:gridCol w="3409950"/>
              </a:tblGrid>
              <a:tr h="462643">
                <a:tc>
                  <a:txBody>
                    <a:bodyPr/>
                    <a:lstStyle/>
                    <a:p>
                      <a:r>
                        <a:rPr sz="1275" b="1">
                          <a:solidFill>
                            <a:srgbClr val="171717"/>
                          </a:solidFill>
                          <a:latin typeface="Arial"/>
                          <a:ea typeface="Arial"/>
                          <a:cs typeface="Arial"/>
                        </a:rPr>
                        <a:t>Layer</a:t>
                      </a:r>
                    </a:p>
                  </a:txBody>
                  <a:tcPr marL="91440" marR="91440" marT="45720" marB="45720">
                    <a:lnL w="5715">
                      <a:solidFill>
                        <a:srgbClr val="D5D5DF"/>
                      </a:solidFill>
                      <a:prstDash val="solid"/>
                    </a:lnL>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c>
                  <a:txBody>
                    <a:bodyPr/>
                    <a:lstStyle/>
                    <a:p>
                      <a:r>
                        <a:rPr sz="1275" b="1">
                          <a:solidFill>
                            <a:srgbClr val="171717"/>
                          </a:solidFill>
                          <a:latin typeface="Arial"/>
                          <a:ea typeface="Arial"/>
                          <a:cs typeface="Arial"/>
                        </a:rPr>
                        <a:t>Implemented technology</a:t>
                      </a:r>
                    </a:p>
                  </a:txBody>
                  <a:tcPr marL="91440" marR="91440" marT="45720" marB="45720">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c>
                  <a:txBody>
                    <a:bodyPr/>
                    <a:lstStyle/>
                    <a:p>
                      <a:r>
                        <a:rPr sz="1275" b="1">
                          <a:solidFill>
                            <a:srgbClr val="171717"/>
                          </a:solidFill>
                          <a:latin typeface="Arial"/>
                          <a:ea typeface="Arial"/>
                          <a:cs typeface="Arial"/>
                        </a:rPr>
                        <a:t>Purpose</a:t>
                      </a:r>
                    </a:p>
                  </a:txBody>
                  <a:tcPr marL="91440" marR="91440" marT="45720" marB="45720">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r>
              <a:tr h="462643">
                <a:tc>
                  <a:txBody>
                    <a:bodyPr/>
                    <a:lstStyle/>
                    <a:p>
                      <a:r>
                        <a:rPr sz="1200" b="0">
                          <a:solidFill>
                            <a:srgbClr val="171717"/>
                          </a:solidFill>
                          <a:latin typeface="Arial"/>
                          <a:ea typeface="Arial"/>
                          <a:cs typeface="Arial"/>
                        </a:rPr>
                        <a:t>Interface</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Next.js 16, React, TypeScript</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Responsive workspace and chat</a:t>
                      </a:r>
                    </a:p>
                  </a:txBody>
                  <a:tcPr marL="91440" marR="91440" marT="45720" marB="45720">
                    <a:lnR w="5715">
                      <a:solidFill>
                        <a:srgbClr val="D5D5DF"/>
                      </a:solidFill>
                      <a:prstDash val="solid"/>
                    </a:lnR>
                    <a:lnB w="5715">
                      <a:solidFill>
                        <a:srgbClr val="D5D5DF"/>
                      </a:solidFill>
                      <a:prstDash val="solid"/>
                    </a:lnB>
                    <a:solidFill>
                      <a:srgbClr val="FFFFFF"/>
                    </a:solidFill>
                  </a:tcPr>
                </a:tc>
              </a:tr>
              <a:tr h="462643">
                <a:tc>
                  <a:txBody>
                    <a:bodyPr/>
                    <a:lstStyle/>
                    <a:p>
                      <a:r>
                        <a:rPr sz="1200" b="0">
                          <a:solidFill>
                            <a:srgbClr val="171717"/>
                          </a:solidFill>
                          <a:latin typeface="Arial"/>
                          <a:ea typeface="Arial"/>
                          <a:cs typeface="Arial"/>
                        </a:rPr>
                        <a:t>API and business rules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FastAPI, Python, SQLAlchemy</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Orders, payments and dispatch validation</a:t>
                      </a:r>
                    </a:p>
                  </a:txBody>
                  <a:tcPr marL="91440" marR="91440" marT="45720" marB="45720">
                    <a:lnR w="5715">
                      <a:solidFill>
                        <a:srgbClr val="D5D5DF"/>
                      </a:solidFill>
                      <a:prstDash val="solid"/>
                    </a:lnR>
                    <a:lnB w="5715">
                      <a:solidFill>
                        <a:srgbClr val="D5D5DF"/>
                      </a:solidFill>
                      <a:prstDash val="solid"/>
                    </a:lnB>
                    <a:solidFill>
                      <a:srgbClr val="FFFFFF"/>
                    </a:solidFill>
                  </a:tcPr>
                </a:tc>
              </a:tr>
              <a:tr h="462643">
                <a:tc>
                  <a:txBody>
                    <a:bodyPr/>
                    <a:lstStyle/>
                    <a:p>
                      <a:r>
                        <a:rPr sz="1200" b="0">
                          <a:solidFill>
                            <a:srgbClr val="171717"/>
                          </a:solidFill>
                          <a:latin typeface="Arial"/>
                          <a:ea typeface="Arial"/>
                          <a:cs typeface="Arial"/>
                        </a:rPr>
                        <a:t>AI and retrieval</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Gemini on Vertex AI, Vertex AI Search</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Grounded explanations and policy context</a:t>
                      </a:r>
                    </a:p>
                  </a:txBody>
                  <a:tcPr marL="91440" marR="91440" marT="45720" marB="45720">
                    <a:lnR w="5715">
                      <a:solidFill>
                        <a:srgbClr val="D5D5DF"/>
                      </a:solidFill>
                      <a:prstDash val="solid"/>
                    </a:lnR>
                    <a:lnB w="5715">
                      <a:solidFill>
                        <a:srgbClr val="D5D5DF"/>
                      </a:solidFill>
                      <a:prstDash val="solid"/>
                    </a:lnB>
                    <a:solidFill>
                      <a:srgbClr val="FFFFFF"/>
                    </a:solidFill>
                  </a:tcPr>
                </a:tc>
              </a:tr>
              <a:tr h="462643">
                <a:tc>
                  <a:txBody>
                    <a:bodyPr/>
                    <a:lstStyle/>
                    <a:p>
                      <a:r>
                        <a:rPr sz="1200" b="0">
                          <a:solidFill>
                            <a:srgbClr val="171717"/>
                          </a:solidFill>
                          <a:latin typeface="Arial"/>
                          <a:ea typeface="Arial"/>
                          <a:cs typeface="Arial"/>
                        </a:rPr>
                        <a:t>Document workflow</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Document AI, ReportLab</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Extraction and draft PDF generation</a:t>
                      </a:r>
                    </a:p>
                  </a:txBody>
                  <a:tcPr marL="91440" marR="91440" marT="45720" marB="45720">
                    <a:lnR w="5715">
                      <a:solidFill>
                        <a:srgbClr val="D5D5DF"/>
                      </a:solidFill>
                      <a:prstDash val="solid"/>
                    </a:lnR>
                    <a:lnB w="5715">
                      <a:solidFill>
                        <a:srgbClr val="D5D5DF"/>
                      </a:solidFill>
                      <a:prstDash val="solid"/>
                    </a:lnB>
                    <a:solidFill>
                      <a:srgbClr val="FFFFFF"/>
                    </a:solidFill>
                  </a:tcPr>
                </a:tc>
              </a:tr>
              <a:tr h="462643">
                <a:tc>
                  <a:txBody>
                    <a:bodyPr/>
                    <a:lstStyle/>
                    <a:p>
                      <a:r>
                        <a:rPr sz="1200" b="0">
                          <a:solidFill>
                            <a:srgbClr val="171717"/>
                          </a:solidFill>
                          <a:latin typeface="Arial"/>
                          <a:ea typeface="Arial"/>
                          <a:cs typeface="Arial"/>
                        </a:rPr>
                        <a:t>Hosting and storage</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Cloud Run, Firestore, Cloud Storage</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Public prototype with durable records</a:t>
                      </a:r>
                    </a:p>
                  </a:txBody>
                  <a:tcPr marL="91440" marR="91440" marT="45720" marB="45720">
                    <a:lnR w="5715">
                      <a:solidFill>
                        <a:srgbClr val="D5D5DF"/>
                      </a:solidFill>
                      <a:prstDash val="solid"/>
                    </a:lnR>
                    <a:lnB w="5715">
                      <a:solidFill>
                        <a:srgbClr val="D5D5DF"/>
                      </a:solidFill>
                      <a:prstDash val="solid"/>
                    </a:lnB>
                    <a:solidFill>
                      <a:srgbClr val="FFFFFF"/>
                    </a:solidFill>
                  </a:tcPr>
                </a:tc>
              </a:tr>
              <a:tr h="462643">
                <a:tc>
                  <a:txBody>
                    <a:bodyPr/>
                    <a:lstStyle/>
                    <a:p>
                      <a:r>
                        <a:rPr sz="1200" b="0">
                          <a:solidFill>
                            <a:srgbClr val="171717"/>
                          </a:solidFill>
                          <a:latin typeface="Arial"/>
                          <a:ea typeface="Arial"/>
                          <a:cs typeface="Arial"/>
                        </a:rPr>
                        <a:t>Verification</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pytest, Playwright, ESLint</a:t>
                      </a:r>
                    </a:p>
                  </a:txBody>
                  <a:tcPr marL="91440" marR="91440" marT="45720" marB="45720">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Business rules and browser workflows</a:t>
                      </a:r>
                    </a:p>
                  </a:txBody>
                  <a:tcPr marL="91440" marR="91440" marT="45720" marB="45720">
                    <a:lnR w="5715">
                      <a:solidFill>
                        <a:srgbClr val="D5D5DF"/>
                      </a:solidFill>
                      <a:prstDash val="solid"/>
                    </a:lnR>
                    <a:lnB w="5715">
                      <a:solidFill>
                        <a:srgbClr val="D5D5DF"/>
                      </a:solidFill>
                      <a:prstDash val="solid"/>
                    </a:lnB>
                    <a:solidFill>
                      <a:srgbClr val="FFFFFF"/>
                    </a:solidFill>
                  </a:tcPr>
                </a:tc>
              </a:tr>
            </a:tbl>
          </a:graphicData>
        </a:graphic>
      </p:graphicFrame>
    </p:spTree>
    <p:extLst>
      <p:ext uri="{BB962C8B-B14F-4D97-AF65-F5344CB8AC3E}">
        <p14:creationId xmlns:p14="http://schemas.microsoft.com/office/powerpoint/2010/main" val="19041243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314086C-60E6-4342-B275-0AE92988A4F6}"/>
              </a:ext>
            </a:extLst>
          </p:cNvPr>
          <p:cNvPicPr>
            <a:picLocks xmlns:a="http://schemas.openxmlformats.org/drawingml/2006/main" noChangeAspect="1"/>
          </p:cNvPicPr>
          <p:nvPr/>
        </p:nvPicPr>
        <p:blipFill>
          <a:blip xmlns:r="http://schemas.openxmlformats.org/officeDocument/2006/relationships" xmlns:a="http://schemas.openxmlformats.org/drawingml/2006/main" r:embed="Re750b6ba71814c5b"/>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8F7813-8A06-4FA4-A733-98F3612E4172}"/>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Estimated implementation cost (optional)</a:t>
            </a:r>
          </a:p>
        </p:txBody>
      </p:sp>
      <p:sp>
        <p:nvSpPr>
          <p:cNvPr id="3" name="">
            <a:extLst xmlns:a="http://schemas.openxmlformats.org/drawingml/2006/main">
              <a:ext uri="{FF2B5EF4-FFF2-40B4-BE49-F238E27FC236}">
                <a16:creationId xmlns:a16="http://schemas.microsoft.com/office/drawing/2014/main" id="{3A05A88C-78CF-4487-9FB8-31F760CBB978}"/>
              </a:ext>
            </a:extLst>
          </p:cNvPr>
          <p:cNvSpPr>
            <a:spLocks xmlns:a="http://schemas.openxmlformats.org/drawingml/2006/main" noGrp="1"/>
          </p:cNvSpPr>
          <p:nvPr/>
        </p:nvSpPr>
        <p:spPr>
          <a:xfrm xmlns:a="http://schemas.openxmlformats.org/drawingml/2006/main">
            <a:off x="342900" y="1400175"/>
            <a:ext cx="845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4338CA"/>
                </a:solidFill>
                <a:latin typeface="Arial"/>
                <a:ea typeface="Arial"/>
                <a:cs typeface="Arial"/>
              </a:defRPr>
            </a:defPPr>
          </a:lstStyle>
          <a:p xmlns:a="http://schemas.openxmlformats.org/drawingml/2006/main">
            <a:pPr>
              <a:defRPr sz="2025" b="1">
                <a:solidFill>
                  <a:srgbClr val="4338CA"/>
                </a:solidFill>
                <a:latin typeface="Arial"/>
                <a:ea typeface="Arial"/>
                <a:cs typeface="Arial"/>
              </a:defRPr>
            </a:pPr>
            <a:r>
              <a:rPr sz="2025" b="1">
                <a:solidFill>
                  <a:srgbClr val="4338CA"/>
                </a:solidFill>
                <a:latin typeface="Arial"/>
                <a:ea typeface="Arial"/>
                <a:cs typeface="Arial"/>
              </a:rPr>
              <a:t>Prototype target: near $0 for light usage</a:t>
            </a:r>
          </a:p>
        </p:txBody>
      </p:sp>
      <p:graphicFrame>
        <p:nvGraphicFramePr>
          <p:cNvPr id="4" name="">
            <a:extLst xmlns:a="http://schemas.openxmlformats.org/drawingml/2006/main">
              <a:ext uri="{FF2B5EF4-FFF2-40B4-BE49-F238E27FC236}">
                <a16:creationId xmlns:a16="http://schemas.microsoft.com/office/drawing/2014/main" id="{4B8BBE77-99E1-42F3-B883-39482B27952C}"/>
              </a:ext>
            </a:extLst>
          </p:cNvPr>
          <p:cNvGraphicFramePr/>
          <p:nvPr/>
        </p:nvGraphicFramePr>
        <p:xfrm>
          <a:off xmlns:a="http://schemas.openxmlformats.org/drawingml/2006/main" x="342900" y="2000250"/>
          <a:ext xmlns:a="http://schemas.openxmlformats.org/drawingml/2006/main" cx="8458200" cy="2257425"/>
        </p:xfrm>
        <a:graphic xmlns:a="http://schemas.openxmlformats.org/drawingml/2006/main">
          <a:graphicData uri="http://schemas.openxmlformats.org/drawingml/2006/table">
            <a:tbl>
              <a:tblPr/>
              <a:tblGrid>
                <a:gridCol w="2809875"/>
                <a:gridCol w="5648325"/>
              </a:tblGrid>
              <a:tr h="451485">
                <a:tc>
                  <a:txBody>
                    <a:bodyPr/>
                    <a:lstStyle/>
                    <a:p>
                      <a:r>
                        <a:rPr sz="1275" b="1">
                          <a:solidFill>
                            <a:srgbClr val="171717"/>
                          </a:solidFill>
                          <a:latin typeface="Arial"/>
                          <a:ea typeface="Arial"/>
                          <a:cs typeface="Arial"/>
                        </a:rPr>
                        <a:t>Component</a:t>
                      </a:r>
                    </a:p>
                  </a:txBody>
                  <a:tcPr marL="91440" marR="91440" marT="45720" marB="45720">
                    <a:lnL w="5715">
                      <a:solidFill>
                        <a:srgbClr val="D5D5DF"/>
                      </a:solidFill>
                      <a:prstDash val="solid"/>
                    </a:lnL>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c>
                  <a:txBody>
                    <a:bodyPr/>
                    <a:lstStyle/>
                    <a:p>
                      <a:r>
                        <a:rPr sz="1275" b="1">
                          <a:solidFill>
                            <a:srgbClr val="171717"/>
                          </a:solidFill>
                          <a:latin typeface="Arial"/>
                          <a:ea typeface="Arial"/>
                          <a:cs typeface="Arial"/>
                        </a:rPr>
                        <a:t>Cost approach</a:t>
                      </a:r>
                    </a:p>
                  </a:txBody>
                  <a:tcPr marL="91440" marR="91440" marT="45720" marB="45720">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r>
              <a:tr h="451485">
                <a:tc>
                  <a:txBody>
                    <a:bodyPr/>
                    <a:lstStyle/>
                    <a:p>
                      <a:r>
                        <a:rPr sz="1200" b="0">
                          <a:solidFill>
                            <a:srgbClr val="171717"/>
                          </a:solidFill>
                          <a:latin typeface="Arial"/>
                          <a:ea typeface="Arial"/>
                          <a:cs typeface="Arial"/>
                        </a:rPr>
                        <a:t>Cloud Run frontend and API</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Request billing, zero minimum instances, one-instance maximum</a:t>
                      </a:r>
                    </a:p>
                  </a:txBody>
                  <a:tcPr marL="91440" marR="91440" marT="45720" marB="45720">
                    <a:lnR w="5715">
                      <a:solidFill>
                        <a:srgbClr val="D5D5DF"/>
                      </a:solidFill>
                      <a:prstDash val="solid"/>
                    </a:lnR>
                    <a:lnB w="5715">
                      <a:solidFill>
                        <a:srgbClr val="D5D5DF"/>
                      </a:solidFill>
                      <a:prstDash val="solid"/>
                    </a:lnB>
                    <a:solidFill>
                      <a:srgbClr val="FFFFFF"/>
                    </a:solidFill>
                  </a:tcPr>
                </a:tc>
              </a:tr>
              <a:tr h="451485">
                <a:tc>
                  <a:txBody>
                    <a:bodyPr/>
                    <a:lstStyle/>
                    <a:p>
                      <a:r>
                        <a:rPr sz="1200" b="0">
                          <a:solidFill>
                            <a:srgbClr val="171717"/>
                          </a:solidFill>
                          <a:latin typeface="Arial"/>
                          <a:ea typeface="Arial"/>
                          <a:cs typeface="Arial"/>
                        </a:rPr>
                        <a:t>Firestore and Cloud Storage</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Use eligible free allowances in us-central1</a:t>
                      </a:r>
                    </a:p>
                  </a:txBody>
                  <a:tcPr marL="91440" marR="91440" marT="45720" marB="45720">
                    <a:lnR w="5715">
                      <a:solidFill>
                        <a:srgbClr val="D5D5DF"/>
                      </a:solidFill>
                      <a:prstDash val="solid"/>
                    </a:lnR>
                    <a:lnB w="5715">
                      <a:solidFill>
                        <a:srgbClr val="D5D5DF"/>
                      </a:solidFill>
                      <a:prstDash val="solid"/>
                    </a:lnB>
                    <a:solidFill>
                      <a:srgbClr val="FFFFFF"/>
                    </a:solidFill>
                  </a:tcPr>
                </a:tc>
              </a:tr>
              <a:tr h="451485">
                <a:tc>
                  <a:txBody>
                    <a:bodyPr/>
                    <a:lstStyle/>
                    <a:p>
                      <a:r>
                        <a:rPr sz="1200" b="0">
                          <a:solidFill>
                            <a:srgbClr val="171717"/>
                          </a:solidFill>
                          <a:latin typeface="Arial"/>
                          <a:ea typeface="Arial"/>
                          <a:cs typeface="Arial"/>
                        </a:rPr>
                        <a:t>Gemini, Document AI and Search</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Metered usage may incur charges</a:t>
                      </a:r>
                    </a:p>
                  </a:txBody>
                  <a:tcPr marL="91440" marR="91440" marT="45720" marB="45720">
                    <a:lnR w="5715">
                      <a:solidFill>
                        <a:srgbClr val="D5D5DF"/>
                      </a:solidFill>
                      <a:prstDash val="solid"/>
                    </a:lnR>
                    <a:lnB w="5715">
                      <a:solidFill>
                        <a:srgbClr val="D5D5DF"/>
                      </a:solidFill>
                      <a:prstDash val="solid"/>
                    </a:lnB>
                    <a:solidFill>
                      <a:srgbClr val="FFFFFF"/>
                    </a:solidFill>
                  </a:tcPr>
                </a:tc>
              </a:tr>
              <a:tr h="451485">
                <a:tc>
                  <a:txBody>
                    <a:bodyPr/>
                    <a:lstStyle/>
                    <a:p>
                      <a:r>
                        <a:rPr sz="1200" b="0">
                          <a:solidFill>
                            <a:srgbClr val="171717"/>
                          </a:solidFill>
                          <a:latin typeface="Arial"/>
                          <a:ea typeface="Arial"/>
                          <a:cs typeface="Arial"/>
                        </a:rPr>
                        <a:t>Builds, images and network</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Additional usage charges may apply</a:t>
                      </a:r>
                    </a:p>
                  </a:txBody>
                  <a:tcPr marL="91440" marR="91440" marT="45720" marB="45720">
                    <a:lnR w="5715">
                      <a:solidFill>
                        <a:srgbClr val="D5D5DF"/>
                      </a:solidFill>
                      <a:prstDash val="solid"/>
                    </a:lnR>
                    <a:lnB w="5715">
                      <a:solidFill>
                        <a:srgbClr val="D5D5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6CFC1A-7B47-4F49-9C42-E0F775C723F6}"/>
              </a:ext>
            </a:extLst>
          </p:cNvPr>
          <p:cNvSpPr>
            <a:spLocks xmlns:a="http://schemas.openxmlformats.org/drawingml/2006/main" noGrp="1"/>
          </p:cNvSpPr>
          <p:nvPr/>
        </p:nvSpPr>
        <p:spPr>
          <a:xfrm xmlns:a="http://schemas.openxmlformats.org/drawingml/2006/main">
            <a:off x="342900" y="4524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5656"/>
                </a:solidFill>
                <a:latin typeface="Arial"/>
                <a:ea typeface="Arial"/>
                <a:cs typeface="Arial"/>
              </a:defRPr>
            </a:defPPr>
          </a:lstStyle>
          <a:p xmlns:a="http://schemas.openxmlformats.org/drawingml/2006/main">
            <a:pPr>
              <a:defRPr sz="1275" b="0">
                <a:solidFill>
                  <a:srgbClr val="565656"/>
                </a:solidFill>
                <a:latin typeface="Arial"/>
                <a:ea typeface="Arial"/>
                <a:cs typeface="Arial"/>
              </a:defRPr>
            </a:pPr>
            <a:r>
              <a:rPr sz="1275" b="0">
                <a:solidFill>
                  <a:srgbClr val="565656"/>
                </a:solidFill>
                <a:latin typeface="Arial"/>
                <a:ea typeface="Arial"/>
                <a:cs typeface="Arial"/>
              </a:rPr>
              <a:t>Planning target, not a billing guarantee. No Cloud SQL instance. Developer time excluded.</a:t>
            </a:r>
          </a:p>
        </p:txBody>
      </p:sp>
    </p:spTree>
    <p:extLst>
      <p:ext uri="{BB962C8B-B14F-4D97-AF65-F5344CB8AC3E}">
        <p14:creationId xmlns:p14="http://schemas.microsoft.com/office/powerpoint/2010/main" val="14050847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34ABB76-FF19-4739-9E6D-CA2D7903F8DF}"/>
              </a:ext>
            </a:extLst>
          </p:cNvPr>
          <p:cNvPicPr>
            <a:picLocks xmlns:a="http://schemas.openxmlformats.org/drawingml/2006/main" noChangeAspect="1"/>
          </p:cNvPicPr>
          <p:nvPr/>
        </p:nvPicPr>
        <p:blipFill>
          <a:blip xmlns:r="http://schemas.openxmlformats.org/officeDocument/2006/relationships" xmlns:a="http://schemas.openxmlformats.org/drawingml/2006/main" r:embed="Rf66c14451706426e"/>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F39136-73AF-4B07-8E32-18569F473739}"/>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Snapshots of the prototype</a:t>
            </a:r>
          </a:p>
        </p:txBody>
      </p:sp>
      <p:pic>
        <p:nvPicPr>
          <p:cNvPr id="3" name="">
            <a:extLst xmlns:a="http://schemas.openxmlformats.org/drawingml/2006/main">
              <a:ext uri="{FF2B5EF4-FFF2-40B4-BE49-F238E27FC236}">
                <a16:creationId xmlns:a16="http://schemas.microsoft.com/office/drawing/2014/main" id="{EF0C9F4E-AC8C-4C85-A368-2533D170A7E4}"/>
              </a:ext>
            </a:extLst>
          </p:cNvPr>
          <p:cNvPicPr>
            <a:picLocks xmlns:a="http://schemas.openxmlformats.org/drawingml/2006/main" noChangeAspect="1"/>
          </p:cNvPicPr>
          <p:nvPr/>
        </p:nvPicPr>
        <p:blipFill>
          <a:blip xmlns:r="http://schemas.openxmlformats.org/officeDocument/2006/relationships" xmlns:a="http://schemas.openxmlformats.org/drawingml/2006/main" r:embed="Ra1b4f803b04b4762"/>
          <a:stretch xmlns:a="http://schemas.openxmlformats.org/drawingml/2006/main"/>
        </p:blipFill>
        <p:spPr>
          <a:xfrm xmlns:a="http://schemas.openxmlformats.org/drawingml/2006/main">
            <a:off x="342900" y="1353420"/>
            <a:ext cx="2571750" cy="35987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946277-2615-4B9D-AEE7-ADE415C4510F}"/>
              </a:ext>
            </a:extLst>
          </p:cNvPr>
          <p:cNvSpPr>
            <a:spLocks xmlns:a="http://schemas.openxmlformats.org/drawingml/2006/main" noGrp="1"/>
          </p:cNvSpPr>
          <p:nvPr/>
        </p:nvSpPr>
        <p:spPr>
          <a:xfrm xmlns:a="http://schemas.openxmlformats.org/drawingml/2006/main">
            <a:off x="3305175" y="15144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71717"/>
                </a:solidFill>
                <a:latin typeface="Arial"/>
                <a:ea typeface="Arial"/>
                <a:cs typeface="Arial"/>
              </a:defRPr>
            </a:defPPr>
          </a:lstStyle>
          <a:p xmlns:a="http://schemas.openxmlformats.org/drawingml/2006/main">
            <a:pPr>
              <a:defRPr sz="1950" b="1">
                <a:solidFill>
                  <a:srgbClr val="171717"/>
                </a:solidFill>
                <a:latin typeface="Arial"/>
                <a:ea typeface="Arial"/>
                <a:cs typeface="Arial"/>
              </a:defRPr>
            </a:pPr>
            <a:r>
              <a:rPr sz="1950" b="1">
                <a:solidFill>
                  <a:srgbClr val="171717"/>
                </a:solidFill>
                <a:latin typeface="Arial"/>
                <a:ea typeface="Arial"/>
                <a:cs typeface="Arial"/>
              </a:rPr>
              <a:t>Checked export invoice</a:t>
            </a:r>
          </a:p>
        </p:txBody>
      </p:sp>
      <p:sp>
        <p:nvSpPr>
          <p:cNvPr id="5" name="">
            <a:extLst xmlns:a="http://schemas.openxmlformats.org/drawingml/2006/main">
              <a:ext uri="{FF2B5EF4-FFF2-40B4-BE49-F238E27FC236}">
                <a16:creationId xmlns:a16="http://schemas.microsoft.com/office/drawing/2014/main" id="{B922EE30-A252-4FE7-8B9F-EA5644B2A829}"/>
              </a:ext>
            </a:extLst>
          </p:cNvPr>
          <p:cNvSpPr>
            <a:spLocks xmlns:a="http://schemas.openxmlformats.org/drawingml/2006/main" noGrp="1"/>
          </p:cNvSpPr>
          <p:nvPr/>
        </p:nvSpPr>
        <p:spPr>
          <a:xfrm xmlns:a="http://schemas.openxmlformats.org/drawingml/2006/main">
            <a:off x="3305175" y="21145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71717"/>
                </a:solidFill>
                <a:latin typeface="Arial"/>
                <a:ea typeface="Arial"/>
                <a:cs typeface="Arial"/>
              </a:defRPr>
            </a:defPPr>
          </a:lstStyle>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The live application shows the extracted invoice and a compliance verdict. Generated documents remain available after a fresh revision and an overnight cold start.</a:t>
            </a:r>
          </a:p>
        </p:txBody>
      </p:sp>
      <p:sp>
        <p:nvSpPr>
          <p:cNvPr id="6" name="">
            <a:extLst xmlns:a="http://schemas.openxmlformats.org/drawingml/2006/main">
              <a:ext uri="{FF2B5EF4-FFF2-40B4-BE49-F238E27FC236}">
                <a16:creationId xmlns:a16="http://schemas.microsoft.com/office/drawing/2014/main" id="{B7937E86-0563-4C6F-9467-4872B62C718B}"/>
              </a:ext>
            </a:extLst>
          </p:cNvPr>
          <p:cNvSpPr>
            <a:spLocks xmlns:a="http://schemas.openxmlformats.org/drawingml/2006/main" noGrp="1"/>
          </p:cNvSpPr>
          <p:nvPr/>
        </p:nvSpPr>
        <p:spPr>
          <a:xfrm xmlns:a="http://schemas.openxmlformats.org/drawingml/2006/main">
            <a:off x="3305175" y="360997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Working evidence</a:t>
            </a:r>
          </a:p>
        </p:txBody>
      </p:sp>
      <p:sp>
        <p:nvSpPr>
          <p:cNvPr id="7" name="">
            <a:extLst xmlns:a="http://schemas.openxmlformats.org/drawingml/2006/main">
              <a:ext uri="{FF2B5EF4-FFF2-40B4-BE49-F238E27FC236}">
                <a16:creationId xmlns:a16="http://schemas.microsoft.com/office/drawing/2014/main" id="{0F18FDBA-A1EA-45B3-89D9-790542EBF1CF}"/>
              </a:ext>
            </a:extLst>
          </p:cNvPr>
          <p:cNvSpPr>
            <a:spLocks xmlns:a="http://schemas.openxmlformats.org/drawingml/2006/main" noGrp="1"/>
          </p:cNvSpPr>
          <p:nvPr/>
        </p:nvSpPr>
        <p:spPr>
          <a:xfrm xmlns:a="http://schemas.openxmlformats.org/drawingml/2006/main">
            <a:off x="3305175" y="401002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171717"/>
                </a:solidFill>
                <a:latin typeface="Arial"/>
                <a:ea typeface="Arial"/>
                <a:cs typeface="Arial"/>
              </a:defRPr>
            </a:defPPr>
          </a:lstStyle>
          <a:p xmlns:a="http://schemas.openxmlformats.org/drawingml/2006/main">
            <a:pPr>
              <a:defRPr sz="1425" b="0">
                <a:solidFill>
                  <a:srgbClr val="171717"/>
                </a:solidFill>
                <a:latin typeface="Arial"/>
                <a:ea typeface="Arial"/>
                <a:cs typeface="Arial"/>
              </a:defRPr>
            </a:pPr>
            <a:r>
              <a:rPr sz="1425" b="0">
                <a:solidFill>
                  <a:srgbClr val="171717"/>
                </a:solidFill>
                <a:latin typeface="Arial"/>
                <a:ea typeface="Arial"/>
                <a:cs typeface="Arial"/>
              </a:rPr>
              <a:t>Preserved company profile and 11 orders</a:t>
            </a:r>
          </a:p>
          <a:p xmlns:a="http://schemas.openxmlformats.org/drawingml/2006/main">
            <a:pPr>
              <a:defRPr sz="1425" b="0">
                <a:solidFill>
                  <a:srgbClr val="171717"/>
                </a:solidFill>
                <a:latin typeface="Arial"/>
                <a:ea typeface="Arial"/>
                <a:cs typeface="Arial"/>
              </a:defRPr>
            </a:pPr>
            <a:r>
              <a:rPr sz="1425" b="0">
                <a:solidFill>
                  <a:srgbClr val="171717"/>
                </a:solidFill>
                <a:latin typeface="Arial"/>
                <a:ea typeface="Arial"/>
                <a:cs typeface="Arial"/>
              </a:rPr>
              <a:t>Saved invoice and generated PDFs</a:t>
            </a:r>
          </a:p>
          <a:p xmlns:a="http://schemas.openxmlformats.org/drawingml/2006/main">
            <a:pPr>
              <a:defRPr sz="1425" b="0">
                <a:solidFill>
                  <a:srgbClr val="171717"/>
                </a:solidFill>
                <a:latin typeface="Arial"/>
                <a:ea typeface="Arial"/>
                <a:cs typeface="Arial"/>
              </a:defRPr>
            </a:pPr>
            <a:r>
              <a:rPr sz="1425" b="0">
                <a:solidFill>
                  <a:srgbClr val="171717"/>
                </a:solidFill>
                <a:latin typeface="Arial"/>
                <a:ea typeface="Arial"/>
                <a:cs typeface="Arial"/>
              </a:rPr>
              <a:t>Completed persistence verification task</a:t>
            </a:r>
          </a:p>
        </p:txBody>
      </p:sp>
    </p:spTree>
    <p:extLst>
      <p:ext uri="{BB962C8B-B14F-4D97-AF65-F5344CB8AC3E}">
        <p14:creationId xmlns:p14="http://schemas.microsoft.com/office/powerpoint/2010/main" val="13421880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30883B0F-BC66-4928-9DA9-B528F3A6AAC3}"/>
              </a:ext>
            </a:extLst>
          </p:cNvPr>
          <p:cNvPicPr>
            <a:picLocks xmlns:a="http://schemas.openxmlformats.org/drawingml/2006/main" noChangeAspect="1"/>
          </p:cNvPicPr>
          <p:nvPr/>
        </p:nvPicPr>
        <p:blipFill>
          <a:blip xmlns:r="http://schemas.openxmlformats.org/officeDocument/2006/relationships" xmlns:a="http://schemas.openxmlformats.org/drawingml/2006/main" r:embed="R3f77964a60cb4e33"/>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E354EF-24AF-4CF1-BEEB-09984698E1F9}"/>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Prototype Performance report/Benchmarking</a:t>
            </a:r>
          </a:p>
        </p:txBody>
      </p:sp>
      <p:graphicFrame>
        <p:nvGraphicFramePr>
          <p:cNvPr id="3" name="">
            <a:extLst xmlns:a="http://schemas.openxmlformats.org/drawingml/2006/main">
              <a:ext uri="{FF2B5EF4-FFF2-40B4-BE49-F238E27FC236}">
                <a16:creationId xmlns:a16="http://schemas.microsoft.com/office/drawing/2014/main" id="{0159B3E1-C4CF-46F6-9575-FE7997C0DC60}"/>
              </a:ext>
            </a:extLst>
          </p:cNvPr>
          <p:cNvGraphicFramePr/>
          <p:nvPr/>
        </p:nvGraphicFramePr>
        <p:xfrm>
          <a:off xmlns:a="http://schemas.openxmlformats.org/drawingml/2006/main" x="342900" y="1419225"/>
          <a:ext xmlns:a="http://schemas.openxmlformats.org/drawingml/2006/main" cx="8458200" cy="2990850"/>
        </p:xfrm>
        <a:graphic xmlns:a="http://schemas.openxmlformats.org/drawingml/2006/main">
          <a:graphicData uri="http://schemas.openxmlformats.org/drawingml/2006/table">
            <a:tbl>
              <a:tblPr/>
              <a:tblGrid>
                <a:gridCol w="2857500"/>
                <a:gridCol w="5600700"/>
              </a:tblGrid>
              <a:tr h="427264">
                <a:tc>
                  <a:txBody>
                    <a:bodyPr/>
                    <a:lstStyle/>
                    <a:p>
                      <a:r>
                        <a:rPr sz="1275" b="1">
                          <a:solidFill>
                            <a:srgbClr val="171717"/>
                          </a:solidFill>
                          <a:latin typeface="Arial"/>
                          <a:ea typeface="Arial"/>
                          <a:cs typeface="Arial"/>
                        </a:rPr>
                        <a:t>Check</a:t>
                      </a:r>
                    </a:p>
                  </a:txBody>
                  <a:tcPr marL="91440" marR="91440" marT="45720" marB="45720">
                    <a:lnL w="5715">
                      <a:solidFill>
                        <a:srgbClr val="D5D5DF"/>
                      </a:solidFill>
                      <a:prstDash val="solid"/>
                    </a:lnL>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c>
                  <a:txBody>
                    <a:bodyPr/>
                    <a:lstStyle/>
                    <a:p>
                      <a:r>
                        <a:rPr sz="1275" b="1">
                          <a:solidFill>
                            <a:srgbClr val="171717"/>
                          </a:solidFill>
                          <a:latin typeface="Arial"/>
                          <a:ea typeface="Arial"/>
                          <a:cs typeface="Arial"/>
                        </a:rPr>
                        <a:t>Observed evidence</a:t>
                      </a:r>
                    </a:p>
                  </a:txBody>
                  <a:tcPr marL="91440" marR="91440" marT="45720" marB="45720">
                    <a:lnR w="5715">
                      <a:solidFill>
                        <a:srgbClr val="D5D5DF"/>
                      </a:solidFill>
                      <a:prstDash val="solid"/>
                    </a:lnR>
                    <a:lnT w="5715">
                      <a:solidFill>
                        <a:srgbClr val="D5D5DF"/>
                      </a:solidFill>
                      <a:prstDash val="solid"/>
                    </a:lnT>
                    <a:lnB w="5715">
                      <a:solidFill>
                        <a:srgbClr val="D5D5DF"/>
                      </a:solidFill>
                      <a:prstDash val="solid"/>
                    </a:lnB>
                    <a:solidFill>
                      <a:srgbClr val="EFEFF5"/>
                    </a:solidFill>
                  </a:tcPr>
                </a:tc>
              </a:tr>
              <a:tr h="427264">
                <a:tc>
                  <a:txBody>
                    <a:bodyPr/>
                    <a:lstStyle/>
                    <a:p>
                      <a:r>
                        <a:rPr sz="1200" b="0">
                          <a:solidFill>
                            <a:srgbClr val="171717"/>
                          </a:solidFill>
                          <a:latin typeface="Arial"/>
                          <a:ea typeface="Arial"/>
                          <a:cs typeface="Arial"/>
                        </a:rPr>
                        <a:t>Business and persistence tests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61 backend tests passed</a:t>
                      </a:r>
                    </a:p>
                  </a:txBody>
                  <a:tcPr marL="91440" marR="91440" marT="45720" marB="45720">
                    <a:lnR w="5715">
                      <a:solidFill>
                        <a:srgbClr val="D5D5DF"/>
                      </a:solidFill>
                      <a:prstDash val="solid"/>
                    </a:lnR>
                    <a:lnB w="5715">
                      <a:solidFill>
                        <a:srgbClr val="D5D5DF"/>
                      </a:solidFill>
                      <a:prstDash val="solid"/>
                    </a:lnB>
                    <a:solidFill>
                      <a:srgbClr val="FFFFFF"/>
                    </a:solidFill>
                  </a:tcPr>
                </a:tc>
              </a:tr>
              <a:tr h="427264">
                <a:tc>
                  <a:txBody>
                    <a:bodyPr/>
                    <a:lstStyle/>
                    <a:p>
                      <a:r>
                        <a:rPr sz="1200" b="0">
                          <a:solidFill>
                            <a:srgbClr val="171717"/>
                          </a:solidFill>
                          <a:latin typeface="Arial"/>
                          <a:ea typeface="Arial"/>
                          <a:cs typeface="Arial"/>
                        </a:rPr>
                        <a:t>Browser workflows</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10 isolated browser workflows passed</a:t>
                      </a:r>
                    </a:p>
                  </a:txBody>
                  <a:tcPr marL="91440" marR="91440" marT="45720" marB="45720">
                    <a:lnR w="5715">
                      <a:solidFill>
                        <a:srgbClr val="D5D5DF"/>
                      </a:solidFill>
                      <a:prstDash val="solid"/>
                    </a:lnR>
                    <a:lnB w="5715">
                      <a:solidFill>
                        <a:srgbClr val="D5D5DF"/>
                      </a:solidFill>
                      <a:prstDash val="solid"/>
                    </a:lnB>
                    <a:solidFill>
                      <a:srgbClr val="FFFFFF"/>
                    </a:solidFill>
                  </a:tcPr>
                </a:tc>
              </a:tr>
              <a:tr h="427264">
                <a:tc>
                  <a:txBody>
                    <a:bodyPr/>
                    <a:lstStyle/>
                    <a:p>
                      <a:r>
                        <a:rPr sz="1200" b="0">
                          <a:solidFill>
                            <a:srgbClr val="171717"/>
                          </a:solidFill>
                          <a:latin typeface="Arial"/>
                          <a:ea typeface="Arial"/>
                          <a:cs typeface="Arial"/>
                        </a:rPr>
                        <a:t>Data preservation</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11 orders and six full customer statements matched</a:t>
                      </a:r>
                    </a:p>
                  </a:txBody>
                  <a:tcPr marL="91440" marR="91440" marT="45720" marB="45720">
                    <a:lnR w="5715">
                      <a:solidFill>
                        <a:srgbClr val="D5D5DF"/>
                      </a:solidFill>
                      <a:prstDash val="solid"/>
                    </a:lnR>
                    <a:lnB w="5715">
                      <a:solidFill>
                        <a:srgbClr val="D5D5DF"/>
                      </a:solidFill>
                      <a:prstDash val="solid"/>
                    </a:lnB>
                    <a:solidFill>
                      <a:srgbClr val="FFFFFF"/>
                    </a:solidFill>
                  </a:tcPr>
                </a:tc>
              </a:tr>
              <a:tr h="427264">
                <a:tc>
                  <a:txBody>
                    <a:bodyPr/>
                    <a:lstStyle/>
                    <a:p>
                      <a:r>
                        <a:rPr sz="1200" b="0">
                          <a:solidFill>
                            <a:srgbClr val="171717"/>
                          </a:solidFill>
                          <a:latin typeface="Arial"/>
                          <a:ea typeface="Arial"/>
                          <a:cs typeface="Arial"/>
                        </a:rPr>
                        <a:t>Restart persistence</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Task, invoice and identical PDF survived a new revision</a:t>
                      </a:r>
                    </a:p>
                  </a:txBody>
                  <a:tcPr marL="91440" marR="91440" marT="45720" marB="45720">
                    <a:lnR w="5715">
                      <a:solidFill>
                        <a:srgbClr val="D5D5DF"/>
                      </a:solidFill>
                      <a:prstDash val="solid"/>
                    </a:lnR>
                    <a:lnB w="5715">
                      <a:solidFill>
                        <a:srgbClr val="D5D5DF"/>
                      </a:solidFill>
                      <a:prstDash val="solid"/>
                    </a:lnB>
                    <a:solidFill>
                      <a:srgbClr val="FFFFFF"/>
                    </a:solidFill>
                  </a:tcPr>
                </a:tc>
              </a:tr>
              <a:tr h="427264">
                <a:tc>
                  <a:txBody>
                    <a:bodyPr/>
                    <a:lstStyle/>
                    <a:p>
                      <a:r>
                        <a:rPr sz="1200" b="0">
                          <a:solidFill>
                            <a:srgbClr val="171717"/>
                          </a:solidFill>
                          <a:latin typeface="Arial"/>
                          <a:ea typeface="Arial"/>
                          <a:cs typeface="Arial"/>
                        </a:rPr>
                        <a:t>Concurrency protection</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Real Firestore rejected a stale transaction</a:t>
                      </a:r>
                    </a:p>
                  </a:txBody>
                  <a:tcPr marL="91440" marR="91440" marT="45720" marB="45720">
                    <a:lnR w="5715">
                      <a:solidFill>
                        <a:srgbClr val="D5D5DF"/>
                      </a:solidFill>
                      <a:prstDash val="solid"/>
                    </a:lnR>
                    <a:lnB w="5715">
                      <a:solidFill>
                        <a:srgbClr val="D5D5DF"/>
                      </a:solidFill>
                      <a:prstDash val="solid"/>
                    </a:lnB>
                    <a:solidFill>
                      <a:srgbClr val="FFFFFF"/>
                    </a:solidFill>
                  </a:tcPr>
                </a:tc>
              </a:tr>
              <a:tr h="427264">
                <a:tc>
                  <a:txBody>
                    <a:bodyPr/>
                    <a:lstStyle/>
                    <a:p>
                      <a:r>
                        <a:rPr sz="1200" b="0">
                          <a:solidFill>
                            <a:srgbClr val="171717"/>
                          </a:solidFill>
                          <a:latin typeface="Arial"/>
                          <a:ea typeface="Arial"/>
                          <a:cs typeface="Arial"/>
                        </a:rPr>
                        <a:t>Live API</a:t>
                      </a:r>
                    </a:p>
                  </a:txBody>
                  <a:tcPr marL="91440" marR="91440" marT="45720" marB="45720">
                    <a:lnL w="5715">
                      <a:solidFill>
                        <a:srgbClr val="D5D5DF"/>
                      </a:solidFill>
                      <a:prstDash val="solid"/>
                    </a:lnL>
                    <a:lnR w="5715">
                      <a:solidFill>
                        <a:srgbClr val="D5D5DF"/>
                      </a:solidFill>
                      <a:prstDash val="solid"/>
                    </a:lnR>
                    <a:lnB w="5715">
                      <a:solidFill>
                        <a:srgbClr val="D5D5DF"/>
                      </a:solidFill>
                      <a:prstDash val="solid"/>
                    </a:lnB>
                    <a:solidFill>
                      <a:srgbClr val="FFFFFF"/>
                    </a:solidFill>
                  </a:tcPr>
                </a:tc>
                <a:tc>
                  <a:txBody>
                    <a:bodyPr/>
                    <a:lstStyle/>
                    <a:p>
                      <a:r>
                        <a:rPr sz="1200" b="0">
                          <a:solidFill>
                            <a:srgbClr val="171717"/>
                          </a:solidFill>
                          <a:latin typeface="Arial"/>
                          <a:ea typeface="Arial"/>
                          <a:cs typeface="Arial"/>
                        </a:rPr>
                        <a:t>Health, profile, totals, PDF and disabled reset passed</a:t>
                      </a:r>
                    </a:p>
                  </a:txBody>
                  <a:tcPr marL="91440" marR="91440" marT="45720" marB="45720">
                    <a:lnR w="5715">
                      <a:solidFill>
                        <a:srgbClr val="D5D5DF"/>
                      </a:solidFill>
                      <a:prstDash val="solid"/>
                    </a:lnR>
                    <a:lnB w="5715">
                      <a:solidFill>
                        <a:srgbClr val="D5D5D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210429B-5A0C-42E7-8F58-0F3D44A29742}"/>
              </a:ext>
            </a:extLst>
          </p:cNvPr>
          <p:cNvSpPr>
            <a:spLocks xmlns:a="http://schemas.openxmlformats.org/drawingml/2006/main" noGrp="1"/>
          </p:cNvSpPr>
          <p:nvPr/>
        </p:nvSpPr>
        <p:spPr>
          <a:xfrm xmlns:a="http://schemas.openxmlformats.org/drawingml/2006/main">
            <a:off x="342900" y="4610100"/>
            <a:ext cx="845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5656"/>
                </a:solidFill>
                <a:latin typeface="Arial"/>
                <a:ea typeface="Arial"/>
                <a:cs typeface="Arial"/>
              </a:defRPr>
            </a:defPPr>
          </a:lstStyle>
          <a:p xmlns:a="http://schemas.openxmlformats.org/drawingml/2006/main">
            <a:pPr>
              <a:defRPr sz="1275" b="0">
                <a:solidFill>
                  <a:srgbClr val="565656"/>
                </a:solidFill>
                <a:latin typeface="Arial"/>
                <a:ea typeface="Arial"/>
                <a:cs typeface="Arial"/>
              </a:defRPr>
            </a:pPr>
            <a:r>
              <a:rPr sz="1275" b="0">
                <a:solidFill>
                  <a:srgbClr val="565656"/>
                </a:solidFill>
                <a:latin typeface="Arial"/>
                <a:ea typeface="Arial"/>
                <a:cs typeface="Arial"/>
              </a:rPr>
              <a:t>No measured customer time savings, extraction accuracy score or load-test result yet.</a:t>
            </a:r>
          </a:p>
        </p:txBody>
      </p:sp>
    </p:spTree>
    <p:extLst>
      <p:ext uri="{BB962C8B-B14F-4D97-AF65-F5344CB8AC3E}">
        <p14:creationId xmlns:p14="http://schemas.microsoft.com/office/powerpoint/2010/main" val="15725994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4B5BAE9-0AA1-4407-BB30-5F2814DC9E3C}"/>
              </a:ext>
            </a:extLst>
          </p:cNvPr>
          <p:cNvPicPr>
            <a:picLocks xmlns:a="http://schemas.openxmlformats.org/drawingml/2006/main" noChangeAspect="1"/>
          </p:cNvPicPr>
          <p:nvPr/>
        </p:nvPicPr>
        <p:blipFill>
          <a:blip xmlns:r="http://schemas.openxmlformats.org/officeDocument/2006/relationships" xmlns:a="http://schemas.openxmlformats.org/drawingml/2006/main" r:embed="R994c3a1708e44a4e"/>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860A0D-48F8-41DC-84CE-D64DE22361B2}"/>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Additional Details/Future Development (if any)</a:t>
            </a:r>
          </a:p>
        </p:txBody>
      </p:sp>
      <p:sp>
        <p:nvSpPr>
          <p:cNvPr id="3" name="">
            <a:extLst xmlns:a="http://schemas.openxmlformats.org/drawingml/2006/main">
              <a:ext uri="{FF2B5EF4-FFF2-40B4-BE49-F238E27FC236}">
                <a16:creationId xmlns:a16="http://schemas.microsoft.com/office/drawing/2014/main" id="{456A1723-425E-4557-86BE-63C71B319A8A}"/>
              </a:ext>
            </a:extLst>
          </p:cNvPr>
          <p:cNvSpPr>
            <a:spLocks xmlns:a="http://schemas.openxmlformats.org/drawingml/2006/main" noGrp="1"/>
          </p:cNvSpPr>
          <p:nvPr/>
        </p:nvSpPr>
        <p:spPr>
          <a:xfrm xmlns:a="http://schemas.openxmlformats.org/drawingml/2006/main">
            <a:off x="342900" y="1466850"/>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Before real customer use</a:t>
            </a:r>
          </a:p>
        </p:txBody>
      </p:sp>
      <p:sp>
        <p:nvSpPr>
          <p:cNvPr id="4" name="">
            <a:extLst xmlns:a="http://schemas.openxmlformats.org/drawingml/2006/main">
              <a:ext uri="{FF2B5EF4-FFF2-40B4-BE49-F238E27FC236}">
                <a16:creationId xmlns:a16="http://schemas.microsoft.com/office/drawing/2014/main" id="{D180CC8C-672F-4C44-A85A-BEFDE2F6BE52}"/>
              </a:ext>
            </a:extLst>
          </p:cNvPr>
          <p:cNvSpPr>
            <a:spLocks xmlns:a="http://schemas.openxmlformats.org/drawingml/2006/main" noGrp="1"/>
          </p:cNvSpPr>
          <p:nvPr/>
        </p:nvSpPr>
        <p:spPr>
          <a:xfrm xmlns:a="http://schemas.openxmlformats.org/drawingml/2006/main">
            <a:off x="342900" y="1838325"/>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Add sign-in, tenant isolation and audit controls. Validate extraction with a labelled real-document dataset.</a:t>
            </a:r>
          </a:p>
        </p:txBody>
      </p:sp>
      <p:sp>
        <p:nvSpPr>
          <p:cNvPr id="5" name="">
            <a:extLst xmlns:a="http://schemas.openxmlformats.org/drawingml/2006/main">
              <a:ext uri="{FF2B5EF4-FFF2-40B4-BE49-F238E27FC236}">
                <a16:creationId xmlns:a16="http://schemas.microsoft.com/office/drawing/2014/main" id="{255E95EF-A26D-4DFE-92B2-2D170193C5BC}"/>
              </a:ext>
            </a:extLst>
          </p:cNvPr>
          <p:cNvSpPr>
            <a:spLocks xmlns:a="http://schemas.openxmlformats.org/drawingml/2006/main" noGrp="1"/>
          </p:cNvSpPr>
          <p:nvPr/>
        </p:nvSpPr>
        <p:spPr>
          <a:xfrm xmlns:a="http://schemas.openxmlformats.org/drawingml/2006/main">
            <a:off x="4819650" y="1466850"/>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Beyond the demo dataset</a:t>
            </a:r>
          </a:p>
        </p:txBody>
      </p:sp>
      <p:sp>
        <p:nvSpPr>
          <p:cNvPr id="6" name="">
            <a:extLst xmlns:a="http://schemas.openxmlformats.org/drawingml/2006/main">
              <a:ext uri="{FF2B5EF4-FFF2-40B4-BE49-F238E27FC236}">
                <a16:creationId xmlns:a16="http://schemas.microsoft.com/office/drawing/2014/main" id="{D42AF4F9-30D8-413A-A8B6-B739BBF57199}"/>
              </a:ext>
            </a:extLst>
          </p:cNvPr>
          <p:cNvSpPr>
            <a:spLocks xmlns:a="http://schemas.openxmlformats.org/drawingml/2006/main" noGrp="1"/>
          </p:cNvSpPr>
          <p:nvPr/>
        </p:nvSpPr>
        <p:spPr>
          <a:xfrm xmlns:a="http://schemas.openxmlformats.org/drawingml/2006/main">
            <a:off x="4819650" y="1838325"/>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Replace bounded table snapshots with record-level persistence or a relational database as usage grows.</a:t>
            </a:r>
          </a:p>
        </p:txBody>
      </p:sp>
      <p:sp>
        <p:nvSpPr>
          <p:cNvPr id="7" name="">
            <a:extLst xmlns:a="http://schemas.openxmlformats.org/drawingml/2006/main">
              <a:ext uri="{FF2B5EF4-FFF2-40B4-BE49-F238E27FC236}">
                <a16:creationId xmlns:a16="http://schemas.microsoft.com/office/drawing/2014/main" id="{A92AD812-01CE-437C-8E8D-03E801C5ECFA}"/>
              </a:ext>
            </a:extLst>
          </p:cNvPr>
          <p:cNvSpPr>
            <a:spLocks xmlns:a="http://schemas.openxmlformats.org/drawingml/2006/main" noGrp="1"/>
          </p:cNvSpPr>
          <p:nvPr/>
        </p:nvSpPr>
        <p:spPr>
          <a:xfrm xmlns:a="http://schemas.openxmlformats.org/drawingml/2006/main">
            <a:off x="342900" y="31718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Deeper factory workflows</a:t>
            </a:r>
          </a:p>
        </p:txBody>
      </p:sp>
      <p:sp>
        <p:nvSpPr>
          <p:cNvPr id="8" name="">
            <a:extLst xmlns:a="http://schemas.openxmlformats.org/drawingml/2006/main">
              <a:ext uri="{FF2B5EF4-FFF2-40B4-BE49-F238E27FC236}">
                <a16:creationId xmlns:a16="http://schemas.microsoft.com/office/drawing/2014/main" id="{AB5A1BB7-262A-4F73-99C7-77AEBF625CCB}"/>
              </a:ext>
            </a:extLst>
          </p:cNvPr>
          <p:cNvSpPr>
            <a:spLocks xmlns:a="http://schemas.openxmlformats.org/drawingml/2006/main" noGrp="1"/>
          </p:cNvSpPr>
          <p:nvPr/>
        </p:nvSpPr>
        <p:spPr>
          <a:xfrm xmlns:a="http://schemas.openxmlformats.org/drawingml/2006/main">
            <a:off x="342900" y="3543300"/>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Add purchase and inventory movements. Validate GST and stock previews with domain specialists.</a:t>
            </a:r>
          </a:p>
        </p:txBody>
      </p:sp>
      <p:sp>
        <p:nvSpPr>
          <p:cNvPr id="9" name="">
            <a:extLst xmlns:a="http://schemas.openxmlformats.org/drawingml/2006/main">
              <a:ext uri="{FF2B5EF4-FFF2-40B4-BE49-F238E27FC236}">
                <a16:creationId xmlns:a16="http://schemas.microsoft.com/office/drawing/2014/main" id="{72AD6E3E-E146-4933-A3ED-77770238DB11}"/>
              </a:ext>
            </a:extLst>
          </p:cNvPr>
          <p:cNvSpPr>
            <a:spLocks xmlns:a="http://schemas.openxmlformats.org/drawingml/2006/main" noGrp="1"/>
          </p:cNvSpPr>
          <p:nvPr/>
        </p:nvSpPr>
        <p:spPr>
          <a:xfrm xmlns:a="http://schemas.openxmlformats.org/drawingml/2006/main">
            <a:off x="4819650" y="31718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71717"/>
                </a:solidFill>
                <a:latin typeface="Arial"/>
                <a:ea typeface="Arial"/>
                <a:cs typeface="Arial"/>
              </a:defRPr>
            </a:defPPr>
          </a:lstStyle>
          <a:p xmlns:a="http://schemas.openxmlformats.org/drawingml/2006/main">
            <a:pPr>
              <a:defRPr sz="1575" b="1">
                <a:solidFill>
                  <a:srgbClr val="171717"/>
                </a:solidFill>
                <a:latin typeface="Arial"/>
                <a:ea typeface="Arial"/>
                <a:cs typeface="Arial"/>
              </a:defRPr>
            </a:pPr>
            <a:r>
              <a:rPr sz="1575" b="1">
                <a:solidFill>
                  <a:srgbClr val="171717"/>
                </a:solidFill>
                <a:latin typeface="Arial"/>
                <a:ea typeface="Arial"/>
                <a:cs typeface="Arial"/>
              </a:rPr>
              <a:t>Pilot measurement</a:t>
            </a:r>
          </a:p>
        </p:txBody>
      </p:sp>
      <p:sp>
        <p:nvSpPr>
          <p:cNvPr id="10" name="">
            <a:extLst xmlns:a="http://schemas.openxmlformats.org/drawingml/2006/main">
              <a:ext uri="{FF2B5EF4-FFF2-40B4-BE49-F238E27FC236}">
                <a16:creationId xmlns:a16="http://schemas.microsoft.com/office/drawing/2014/main" id="{E44708EC-A93A-450E-845D-B0BC25009ED7}"/>
              </a:ext>
            </a:extLst>
          </p:cNvPr>
          <p:cNvSpPr>
            <a:spLocks xmlns:a="http://schemas.openxmlformats.org/drawingml/2006/main" noGrp="1"/>
          </p:cNvSpPr>
          <p:nvPr/>
        </p:nvSpPr>
        <p:spPr>
          <a:xfrm xmlns:a="http://schemas.openxmlformats.org/drawingml/2006/main">
            <a:off x="4819650" y="3543300"/>
            <a:ext cx="3981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71717"/>
                </a:solidFill>
                <a:latin typeface="Arial"/>
                <a:ea typeface="Arial"/>
                <a:cs typeface="Arial"/>
              </a:defRPr>
            </a:defPPr>
          </a:lstStyle>
          <a:p xmlns:a="http://schemas.openxmlformats.org/drawingml/2006/main">
            <a:pPr>
              <a:defRPr sz="1350" b="0">
                <a:solidFill>
                  <a:srgbClr val="171717"/>
                </a:solidFill>
                <a:latin typeface="Arial"/>
                <a:ea typeface="Arial"/>
                <a:cs typeface="Arial"/>
              </a:defRPr>
            </a:pPr>
            <a:r>
              <a:rPr sz="1350" b="0">
                <a:solidFill>
                  <a:srgbClr val="171717"/>
                </a:solidFill>
                <a:latin typeface="Arial"/>
                <a:ea typeface="Arial"/>
                <a:cs typeface="Arial"/>
              </a:rPr>
              <a:t>Track task completion time, correction rate and answer accuracy. Keep filing and compliance decisions under human review.</a:t>
            </a:r>
          </a:p>
        </p:txBody>
      </p:sp>
    </p:spTree>
    <p:extLst>
      <p:ext uri="{BB962C8B-B14F-4D97-AF65-F5344CB8AC3E}">
        <p14:creationId xmlns:p14="http://schemas.microsoft.com/office/powerpoint/2010/main" val="1354721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FAEA8E6-E1A3-46D0-9C28-7D964634A6A3}"/>
              </a:ext>
            </a:extLst>
          </p:cNvPr>
          <p:cNvPicPr>
            <a:picLocks xmlns:a="http://schemas.openxmlformats.org/drawingml/2006/main" noChangeAspect="1"/>
          </p:cNvPicPr>
          <p:nvPr/>
        </p:nvPicPr>
        <p:blipFill>
          <a:blip xmlns:r="http://schemas.openxmlformats.org/officeDocument/2006/relationships" xmlns:a="http://schemas.openxmlformats.org/drawingml/2006/main" r:embed="Re034a39036b04e79"/>
          <a:stretch xmlns:a="http://schemas.openxmlformats.org/drawingml/2006/main"/>
        </p:blipFill>
        <p:spPr>
          <a:xfrm xmlns:a="http://schemas.openxmlformats.org/drawingml/2006/main">
            <a:off x="29" y="0"/>
            <a:ext cx="9143943" cy="50799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3DCF87-85F9-404A-BE6A-AB4656BE62D3}"/>
              </a:ext>
            </a:extLst>
          </p:cNvPr>
          <p:cNvSpPr>
            <a:spLocks xmlns:a="http://schemas.openxmlformats.org/drawingml/2006/main" noGrp="1"/>
          </p:cNvSpPr>
          <p:nvPr/>
        </p:nvSpPr>
        <p:spPr>
          <a:xfrm xmlns:a="http://schemas.openxmlformats.org/drawingml/2006/main">
            <a:off x="342900" y="781050"/>
            <a:ext cx="8458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171717"/>
                </a:solidFill>
                <a:latin typeface="Arial"/>
                <a:ea typeface="Arial"/>
                <a:cs typeface="Arial"/>
              </a:defRPr>
            </a:defPPr>
          </a:lstStyle>
          <a:p xmlns:a="http://schemas.openxmlformats.org/drawingml/2006/main">
            <a:pPr>
              <a:defRPr sz="1600" b="1">
                <a:solidFill>
                  <a:srgbClr val="171717"/>
                </a:solidFill>
                <a:latin typeface="Arial"/>
                <a:ea typeface="Arial"/>
                <a:cs typeface="Arial"/>
              </a:defRPr>
            </a:pPr>
            <a:r>
              <a:rPr sz="1600" b="1">
                <a:solidFill>
                  <a:srgbClr val="171717"/>
                </a:solidFill>
                <a:latin typeface="Arial"/>
                <a:ea typeface="Arial"/>
                <a:cs typeface="Arial"/>
              </a:rPr>
              <a:t>Provide links to your:</a:t>
            </a:r>
          </a:p>
        </p:txBody>
      </p:sp>
      <p:sp>
        <p:nvSpPr>
          <p:cNvPr id="3" name="">
            <a:extLst xmlns:a="http://schemas.openxmlformats.org/drawingml/2006/main">
              <a:ext uri="{FF2B5EF4-FFF2-40B4-BE49-F238E27FC236}">
                <a16:creationId xmlns:a16="http://schemas.microsoft.com/office/drawing/2014/main" id="{7F40AC12-84DC-43C2-A855-53FB7CC74D9B}"/>
              </a:ext>
            </a:extLst>
          </p:cNvPr>
          <p:cNvSpPr>
            <a:spLocks xmlns:a="http://schemas.openxmlformats.org/drawingml/2006/main" noGrp="1"/>
          </p:cNvSpPr>
          <p:nvPr/>
        </p:nvSpPr>
        <p:spPr>
          <a:xfrm xmlns:a="http://schemas.openxmlformats.org/drawingml/2006/main">
            <a:off x="419100" y="1400175"/>
            <a:ext cx="828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171717"/>
                </a:solidFill>
                <a:latin typeface="Arial"/>
                <a:ea typeface="Arial"/>
                <a:cs typeface="Arial"/>
              </a:defRPr>
            </a:defPPr>
          </a:lstStyle>
          <a:p xmlns:a="http://schemas.openxmlformats.org/drawingml/2006/main">
            <a:pPr>
              <a:defRPr sz="1350" b="1">
                <a:solidFill>
                  <a:srgbClr val="171717"/>
                </a:solidFill>
                <a:latin typeface="Arial"/>
                <a:ea typeface="Arial"/>
                <a:cs typeface="Arial"/>
              </a:defRPr>
            </a:pPr>
            <a:r>
              <a:rPr sz="1350" b="1">
                <a:solidFill>
                  <a:srgbClr val="171717"/>
                </a:solidFill>
                <a:latin typeface="Arial"/>
                <a:ea typeface="Arial"/>
                <a:cs typeface="Arial"/>
              </a:rPr>
              <a:t>GitHub repository</a:t>
            </a:r>
          </a:p>
        </p:txBody>
      </p:sp>
      <p:sp>
        <p:nvSpPr>
          <p:cNvPr id="4" name="">
            <a:extLst xmlns:a="http://schemas.openxmlformats.org/drawingml/2006/main">
              <a:ext uri="{FF2B5EF4-FFF2-40B4-BE49-F238E27FC236}">
                <a16:creationId xmlns:a16="http://schemas.microsoft.com/office/drawing/2014/main" id="{57B48680-AE28-4192-BF7A-2DA551EC8A33}"/>
              </a:ext>
            </a:extLst>
          </p:cNvPr>
          <p:cNvSpPr>
            <a:spLocks xmlns:a="http://schemas.openxmlformats.org/drawingml/2006/main" noGrp="1"/>
          </p:cNvSpPr>
          <p:nvPr/>
        </p:nvSpPr>
        <p:spPr>
          <a:xfrm xmlns:a="http://schemas.openxmlformats.org/drawingml/2006/main">
            <a:off x="419100" y="17240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338CA"/>
                </a:solidFill>
                <a:latin typeface="Arial"/>
                <a:ea typeface="Arial"/>
                <a:cs typeface="Arial"/>
              </a:defRPr>
            </a:defPPr>
          </a:lstStyle>
          <a:p xmlns:a="http://schemas.openxmlformats.org/drawingml/2006/main">
            <a:pPr>
              <a:defRPr sz="1275" b="0">
                <a:solidFill>
                  <a:srgbClr val="4338CA"/>
                </a:solidFill>
                <a:latin typeface="Arial"/>
                <a:ea typeface="Arial"/>
                <a:cs typeface="Arial"/>
              </a:defRPr>
            </a:pPr>
            <a:r>
              <a:rPr u="sng">
                <a:solidFill>
                  <a:srgbClr val="4338CA"/>
                </a:solidFill>
                <a:hlinkClick xmlns:r="http://schemas.openxmlformats.org/officeDocument/2006/relationships" r:id="R20d048cfe94744d3"/>
              </a:rPr>
              <a:t>https://github.com/RisheekNayak/AI-Builder-Cup-2026</a:t>
            </a:r>
          </a:p>
        </p:txBody>
      </p:sp>
      <p:sp>
        <p:nvSpPr>
          <p:cNvPr id="5" name="">
            <a:extLst xmlns:a="http://schemas.openxmlformats.org/drawingml/2006/main">
              <a:ext uri="{FF2B5EF4-FFF2-40B4-BE49-F238E27FC236}">
                <a16:creationId xmlns:a16="http://schemas.microsoft.com/office/drawing/2014/main" id="{171B8174-B393-4CA6-84B4-40281A3CB46B}"/>
              </a:ext>
            </a:extLst>
          </p:cNvPr>
          <p:cNvSpPr>
            <a:spLocks xmlns:a="http://schemas.openxmlformats.org/drawingml/2006/main" noGrp="1"/>
          </p:cNvSpPr>
          <p:nvPr/>
        </p:nvSpPr>
        <p:spPr>
          <a:xfrm xmlns:a="http://schemas.openxmlformats.org/drawingml/2006/main">
            <a:off x="419100" y="2190750"/>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65656"/>
                </a:solidFill>
                <a:latin typeface="Arial"/>
                <a:ea typeface="Arial"/>
                <a:cs typeface="Arial"/>
              </a:defRPr>
            </a:defPPr>
          </a:lstStyle>
          <a:p xmlns:a="http://schemas.openxmlformats.org/drawingml/2006/main">
            <a:pPr>
              <a:defRPr sz="1200" b="0">
                <a:solidFill>
                  <a:srgbClr val="565656"/>
                </a:solidFill>
                <a:latin typeface="Arial"/>
                <a:ea typeface="Arial"/>
                <a:cs typeface="Arial"/>
              </a:defRPr>
            </a:pPr>
            <a:r>
              <a:rPr sz="1200" b="0">
                <a:solidFill>
                  <a:srgbClr val="565656"/>
                </a:solidFill>
                <a:latin typeface="Arial"/>
                <a:ea typeface="Arial"/>
                <a:cs typeface="Arial"/>
              </a:rPr>
              <a:t>Public access and latest branch push pending</a:t>
            </a:r>
          </a:p>
        </p:txBody>
      </p:sp>
      <p:sp>
        <p:nvSpPr>
          <p:cNvPr id="6" name="">
            <a:extLst xmlns:a="http://schemas.openxmlformats.org/drawingml/2006/main">
              <a:ext uri="{FF2B5EF4-FFF2-40B4-BE49-F238E27FC236}">
                <a16:creationId xmlns:a16="http://schemas.microsoft.com/office/drawing/2014/main" id="{22FB1098-6D70-4661-AC3E-3D7066F79280}"/>
              </a:ext>
            </a:extLst>
          </p:cNvPr>
          <p:cNvSpPr>
            <a:spLocks xmlns:a="http://schemas.openxmlformats.org/drawingml/2006/main" noGrp="1"/>
          </p:cNvSpPr>
          <p:nvPr/>
        </p:nvSpPr>
        <p:spPr>
          <a:xfrm xmlns:a="http://schemas.openxmlformats.org/drawingml/2006/main">
            <a:off x="419100" y="2724150"/>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171717"/>
                </a:solidFill>
                <a:latin typeface="Arial"/>
                <a:ea typeface="Arial"/>
                <a:cs typeface="Arial"/>
              </a:defRPr>
            </a:defPPr>
          </a:lstStyle>
          <a:p xmlns:a="http://schemas.openxmlformats.org/drawingml/2006/main">
            <a:pPr>
              <a:defRPr sz="1350" b="1">
                <a:solidFill>
                  <a:srgbClr val="171717"/>
                </a:solidFill>
                <a:latin typeface="Arial"/>
                <a:ea typeface="Arial"/>
                <a:cs typeface="Arial"/>
              </a:defRPr>
            </a:pPr>
            <a:r>
              <a:rPr sz="1350" b="1">
                <a:solidFill>
                  <a:srgbClr val="171717"/>
                </a:solidFill>
                <a:latin typeface="Arial"/>
                <a:ea typeface="Arial"/>
                <a:cs typeface="Arial"/>
              </a:rPr>
              <a:t>Demo video (3 minutes)</a:t>
            </a:r>
          </a:p>
        </p:txBody>
      </p:sp>
      <p:sp>
        <p:nvSpPr>
          <p:cNvPr id="7" name="">
            <a:extLst xmlns:a="http://schemas.openxmlformats.org/drawingml/2006/main">
              <a:ext uri="{FF2B5EF4-FFF2-40B4-BE49-F238E27FC236}">
                <a16:creationId xmlns:a16="http://schemas.microsoft.com/office/drawing/2014/main" id="{21850A33-8AE7-479A-A466-914237F5F29E}"/>
              </a:ext>
            </a:extLst>
          </p:cNvPr>
          <p:cNvSpPr>
            <a:spLocks xmlns:a="http://schemas.openxmlformats.org/drawingml/2006/main" noGrp="1"/>
          </p:cNvSpPr>
          <p:nvPr/>
        </p:nvSpPr>
        <p:spPr>
          <a:xfrm xmlns:a="http://schemas.openxmlformats.org/drawingml/2006/main">
            <a:off x="419100" y="30670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65656"/>
                </a:solidFill>
                <a:latin typeface="Arial"/>
                <a:ea typeface="Arial"/>
                <a:cs typeface="Arial"/>
              </a:defRPr>
            </a:defPPr>
          </a:lstStyle>
          <a:p xmlns:a="http://schemas.openxmlformats.org/drawingml/2006/main">
            <a:pPr>
              <a:defRPr sz="1425" b="0">
                <a:solidFill>
                  <a:srgbClr val="565656"/>
                </a:solidFill>
                <a:latin typeface="Arial"/>
                <a:ea typeface="Arial"/>
                <a:cs typeface="Arial"/>
              </a:defRPr>
            </a:pPr>
            <a:r>
              <a:rPr sz="1425" b="0">
                <a:solidFill>
                  <a:srgbClr val="565656"/>
                </a:solidFill>
                <a:latin typeface="Arial"/>
                <a:ea typeface="Arial"/>
                <a:cs typeface="Arial"/>
              </a:rPr>
              <a:t>Pending recording and upload</a:t>
            </a:r>
          </a:p>
        </p:txBody>
      </p:sp>
      <p:sp>
        <p:nvSpPr>
          <p:cNvPr id="8" name="">
            <a:extLst xmlns:a="http://schemas.openxmlformats.org/drawingml/2006/main">
              <a:ext uri="{FF2B5EF4-FFF2-40B4-BE49-F238E27FC236}">
                <a16:creationId xmlns:a16="http://schemas.microsoft.com/office/drawing/2014/main" id="{9596D612-7993-4410-975F-D53A6CE8ADC9}"/>
              </a:ext>
            </a:extLst>
          </p:cNvPr>
          <p:cNvSpPr>
            <a:spLocks xmlns:a="http://schemas.openxmlformats.org/drawingml/2006/main" noGrp="1"/>
          </p:cNvSpPr>
          <p:nvPr/>
        </p:nvSpPr>
        <p:spPr>
          <a:xfrm xmlns:a="http://schemas.openxmlformats.org/drawingml/2006/main">
            <a:off x="419100" y="3714750"/>
            <a:ext cx="828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171717"/>
                </a:solidFill>
                <a:latin typeface="Arial"/>
                <a:ea typeface="Arial"/>
                <a:cs typeface="Arial"/>
              </a:defRPr>
            </a:defPPr>
          </a:lstStyle>
          <a:p xmlns:a="http://schemas.openxmlformats.org/drawingml/2006/main">
            <a:pPr>
              <a:defRPr sz="1350" b="1">
                <a:solidFill>
                  <a:srgbClr val="171717"/>
                </a:solidFill>
                <a:latin typeface="Arial"/>
                <a:ea typeface="Arial"/>
                <a:cs typeface="Arial"/>
              </a:defRPr>
            </a:pPr>
            <a:r>
              <a:rPr sz="1350" b="1">
                <a:solidFill>
                  <a:srgbClr val="171717"/>
                </a:solidFill>
                <a:latin typeface="Arial"/>
                <a:ea typeface="Arial"/>
                <a:cs typeface="Arial"/>
              </a:rPr>
              <a:t>Final product</a:t>
            </a:r>
          </a:p>
        </p:txBody>
      </p:sp>
      <p:sp>
        <p:nvSpPr>
          <p:cNvPr id="9" name="">
            <a:extLst xmlns:a="http://schemas.openxmlformats.org/drawingml/2006/main">
              <a:ext uri="{FF2B5EF4-FFF2-40B4-BE49-F238E27FC236}">
                <a16:creationId xmlns:a16="http://schemas.microsoft.com/office/drawing/2014/main" id="{1ABD1DCF-3825-4C4C-91CC-FA29214842CD}"/>
              </a:ext>
            </a:extLst>
          </p:cNvPr>
          <p:cNvSpPr>
            <a:spLocks xmlns:a="http://schemas.openxmlformats.org/drawingml/2006/main" noGrp="1"/>
          </p:cNvSpPr>
          <p:nvPr/>
        </p:nvSpPr>
        <p:spPr>
          <a:xfrm xmlns:a="http://schemas.openxmlformats.org/drawingml/2006/main">
            <a:off x="419100" y="4038600"/>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4338CA"/>
                </a:solidFill>
                <a:latin typeface="Arial"/>
                <a:ea typeface="Arial"/>
                <a:cs typeface="Arial"/>
              </a:defRPr>
            </a:defPPr>
          </a:lstStyle>
          <a:p xmlns:a="http://schemas.openxmlformats.org/drawingml/2006/main">
            <a:pPr>
              <a:defRPr sz="1275" b="0">
                <a:solidFill>
                  <a:srgbClr val="4338CA"/>
                </a:solidFill>
                <a:latin typeface="Arial"/>
                <a:ea typeface="Arial"/>
                <a:cs typeface="Arial"/>
              </a:defRPr>
            </a:pPr>
            <a:r>
              <a:rPr u="sng">
                <a:solidFill>
                  <a:srgbClr val="4338CA"/>
                </a:solidFill>
                <a:hlinkClick xmlns:r="http://schemas.openxmlformats.org/officeDocument/2006/relationships" r:id="R87f751abb15944e0"/>
              </a:rPr>
              <a:t>https://shipsure-web-117561127510.us-central1.run.app/</a:t>
            </a:r>
          </a:p>
        </p:txBody>
      </p:sp>
    </p:spTree>
    <p:extLst>
      <p:ext uri="{BB962C8B-B14F-4D97-AF65-F5344CB8AC3E}">
        <p14:creationId xmlns:p14="http://schemas.microsoft.com/office/powerpoint/2010/main" val="529228692"/>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151A570-E189-4A2B-AB0D-04C66C32853F}"/>
              </a:ext>
            </a:extLst>
          </p:cNvPr>
          <p:cNvPicPr>
            <a:picLocks xmlns:a="http://schemas.openxmlformats.org/drawingml/2006/main" noChangeAspect="1"/>
          </p:cNvPicPr>
          <p:nvPr/>
        </p:nvPicPr>
        <p:blipFill>
          <a:blip xmlns:r="http://schemas.openxmlformats.org/officeDocument/2006/relationships" xmlns:a="http://schemas.openxmlformats.org/drawingml/2006/main" r:embed="R25607b745eca4ce5"/>
          <a:stretch xmlns:a="http://schemas.openxmlformats.org/drawingml/2006/main"/>
        </p:blipFill>
        <p:spPr>
          <a:xfrm xmlns:a="http://schemas.openxmlformats.org/drawingml/2006/main">
            <a:off x="3760" y="0"/>
            <a:ext cx="9136480" cy="5143500"/>
          </a:xfrm>
          <a:prstGeom xmlns:a="http://schemas.openxmlformats.org/drawingml/2006/main" prst="rect">
            <a:avLst/>
          </a:prstGeom>
        </p:spPr>
      </p:pic>
    </p:spTree>
    <p:extLst>
      <p:ext uri="{BB962C8B-B14F-4D97-AF65-F5344CB8AC3E}">
        <p14:creationId xmlns:p14="http://schemas.microsoft.com/office/powerpoint/2010/main" val="678261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2026-10-17T17:20:23.9720000Z</dcterms:created>
  <dcterms:modified xsi:type="dcterms:W3CDTF">2026-10-17T17:20:23.9720000Z</dcterms:modified>
</coreProperties>
</file>